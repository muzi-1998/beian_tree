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413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F522A6-60BF-095A-48B1-8A65AB7B8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812730F-0B1C-D55F-E544-86502E23D5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13C515-5631-324F-BB67-2E4760588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4ECCB-D29B-453E-ACEC-91A3819A15A2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7DE836-AE51-51D0-95AD-D38516983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B51F27-2E14-BB86-D1B2-391F95A17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941C-8207-41D3-9B6E-7714D6F23F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374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283CE8-9AEC-CA1C-EDD9-5E399C7ED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808B60-EDDB-3698-1C26-8D56F7EA5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D9E584-B456-A1BD-47D8-683871A5B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4ECCB-D29B-453E-ACEC-91A3819A15A2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CD88D1-98F1-E83A-1DF6-4DA68E347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C54269-C067-169E-8CE2-119E087D8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941C-8207-41D3-9B6E-7714D6F23F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278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64C0DC-F63B-C383-92D5-D2F5B6AEA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E09370-ED42-E368-9510-079035761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2090F7-100A-F814-FA42-FC10FB60D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4ECCB-D29B-453E-ACEC-91A3819A15A2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8FF715-B5FF-2892-73F5-F375A880C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6DFF4D-8C46-02E1-5E00-74CCB12B8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941C-8207-41D3-9B6E-7714D6F23F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053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2FAFC2-40A0-374A-2D05-FA622ED94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FBCD26-C528-6CA4-BB8E-DABB4BB10A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AD904E-FBA5-3012-DFB2-079B7DAE5D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3AEC9F-AB34-CAA8-DCD2-2DDC16F4B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4ECCB-D29B-453E-ACEC-91A3819A15A2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865650-DE90-004E-F615-279E68C49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7847E8-8929-508E-CE03-7629DCEDF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941C-8207-41D3-9B6E-7714D6F23F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525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DCF016-A740-2006-FC45-F97E6D9B9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3DA5C1-D02D-66D8-2744-B3CE68809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23CC5A-4326-7B34-30F0-47D8F1A35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5A771FB-A7CF-F92A-8515-A6C810FC1D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4AF7ECB-0F9F-0049-F882-9D285F5401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247957B-4E9C-D51B-E072-D431632BE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4ECCB-D29B-453E-ACEC-91A3819A15A2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99FCF59-3A74-8BC3-0116-6CFA1E9AC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77306BE-C9F4-EF89-4D73-A5F4D22E4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941C-8207-41D3-9B6E-7714D6F23F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486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408891-5429-552B-743F-7105CF4DA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04CF35B-D389-BF42-E547-E5D38F469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4ECCB-D29B-453E-ACEC-91A3819A15A2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A36027A-6F60-ECC6-5714-C689188FB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3E84281-CDFE-7DF6-4F6B-1F166C741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941C-8207-41D3-9B6E-7714D6F23F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2184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22831E7-7BB2-D041-61DD-7F202DD2A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4ECCB-D29B-453E-ACEC-91A3819A15A2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2B6E4A6-4FE3-4D94-0D36-D0DE38326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2EC8BC-4E75-3EFE-1C10-3E068DD95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941C-8207-41D3-9B6E-7714D6F23F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6943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F2A49F-AAFC-9BE9-8287-88AAA1319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1DD839-7CE2-D316-78A5-1D8D277D3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4721B02-E088-ACC6-381A-752E5B108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A72335-9B65-D2FC-4B43-1E902A432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4ECCB-D29B-453E-ACEC-91A3819A15A2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23E6E3-C4D0-6437-FF0C-D3E3976F8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37D639-5192-C9B1-E859-6798E1253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941C-8207-41D3-9B6E-7714D6F23F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233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86397-3199-5A7A-6D63-1FC6A072B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32358C-FC33-DDEB-15AB-528F7E2CB8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5F75BA-BA30-631E-DEF2-A47A4C915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F96F6E-B6B0-6815-8DFA-F1CC5A1F7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4ECCB-D29B-453E-ACEC-91A3819A15A2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34446A-1873-2DBC-6D9F-525D2D2E7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A52AEF-8B81-0FF0-EEEF-26E1FDB44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941C-8207-41D3-9B6E-7714D6F23F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164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EFFF65-34BA-C68E-C13B-0788C5AE7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38A0A7-47A5-7B15-FF25-470FBFFB3F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F49880-671A-F7C3-D0F7-28B32181D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4ECCB-D29B-453E-ACEC-91A3819A15A2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C227AD-38CC-07B9-F793-442365454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57A90D-107E-E430-03C8-E4E50546C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941C-8207-41D3-9B6E-7714D6F23F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4517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8B7D5E9-7964-F65A-5156-C6D7B27956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B49D65-4809-AC9C-D561-244276FC51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894C28-B113-35B1-F969-3B83FAF6A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4ECCB-D29B-453E-ACEC-91A3819A15A2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AEF1D0-6E14-4713-A225-35B20355A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B310E1-D41D-F950-428F-6A5511D5C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941C-8207-41D3-9B6E-7714D6F23F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14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5EEEFA3-685E-3EA3-B6BF-368F1611E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5C4D3D-D36F-25BA-F15F-89654DDCC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231FD2-989A-4D7A-FCFA-FC48954BB4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14ECCB-D29B-453E-ACEC-91A3819A15A2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4F84DD-3F78-C4D9-AB22-8188C07F53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8D6AAC-E029-C524-563D-1B957E37C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6A941C-8207-41D3-9B6E-7714D6F23F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576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WDQS evidence archit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A17FDED-B70F-5B92-664B-B3D05FDEED4A}"/>
              </a:ext>
            </a:extLst>
          </p:cNvPr>
          <p:cNvSpPr txBox="1"/>
          <p:nvPr/>
        </p:nvSpPr>
        <p:spPr>
          <a:xfrm>
            <a:off x="508000" y="228600"/>
            <a:ext cx="1117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altLang="zh-CN" sz="1900" b="1">
                <a:solidFill>
                  <a:srgbClr val="272727"/>
                </a:solidFill>
                <a:latin typeface="Arial" panose="020B0604020202020204" pitchFamily="34" charset="0"/>
              </a:rPr>
              <a:t>Evidence architecture and claim boundary</a:t>
            </a:r>
            <a:endParaRPr lang="zh-CN" altLang="en-US" sz="1900" b="1">
              <a:solidFill>
                <a:srgbClr val="272727"/>
              </a:solidFill>
              <a:latin typeface="Arial" panose="020B0604020202020204" pitchFamily="34" charset="0"/>
            </a:endParaRPr>
          </a:p>
        </p:txBody>
      </p:sp>
      <p:sp>
        <p:nvSpPr>
          <p:cNvPr id="3" name="input_raw">
            <a:extLst>
              <a:ext uri="{FF2B5EF4-FFF2-40B4-BE49-F238E27FC236}">
                <a16:creationId xmlns:a16="http://schemas.microsoft.com/office/drawing/2014/main" id="{F5455636-4AB6-45E8-8AF8-7F4BF5A518AF}"/>
              </a:ext>
            </a:extLst>
          </p:cNvPr>
          <p:cNvSpPr/>
          <p:nvPr/>
        </p:nvSpPr>
        <p:spPr>
          <a:xfrm>
            <a:off x="508000" y="1066800"/>
            <a:ext cx="1549400" cy="889000"/>
          </a:xfrm>
          <a:prstGeom prst="roundRect">
            <a:avLst/>
          </a:prstGeom>
          <a:solidFill>
            <a:srgbClr val="E8EDF5"/>
          </a:solidFill>
          <a:ln w="12700">
            <a:solidFill>
              <a:srgbClr val="4D4D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rmAutofit/>
          </a:bodyPr>
          <a:lstStyle/>
          <a:p>
            <a:pPr algn="ctr"/>
            <a:r>
              <a:rPr lang="en-US" altLang="zh-CN" sz="1100" b="1">
                <a:solidFill>
                  <a:srgbClr val="272727"/>
                </a:solidFill>
                <a:latin typeface="Arial" panose="020B0604020202020204" pitchFamily="34" charset="0"/>
              </a:rPr>
              <a:t>1-min DO/ORP
measurements</a:t>
            </a:r>
            <a:endParaRPr lang="zh-CN" altLang="en-US" sz="1100" b="1">
              <a:solidFill>
                <a:srgbClr val="272727"/>
              </a:solidFill>
              <a:latin typeface="Arial" panose="020B0604020202020204" pitchFamily="34" charset="0"/>
            </a:endParaRPr>
          </a:p>
        </p:txBody>
      </p:sp>
      <p:sp>
        <p:nvSpPr>
          <p:cNvPr id="4" name="temporal_base">
            <a:extLst>
              <a:ext uri="{FF2B5EF4-FFF2-40B4-BE49-F238E27FC236}">
                <a16:creationId xmlns:a16="http://schemas.microsoft.com/office/drawing/2014/main" id="{F6C0C098-B920-C3A0-D73A-8EF014F48171}"/>
              </a:ext>
            </a:extLst>
          </p:cNvPr>
          <p:cNvSpPr/>
          <p:nvPr/>
        </p:nvSpPr>
        <p:spPr>
          <a:xfrm>
            <a:off x="2540000" y="965200"/>
            <a:ext cx="1803400" cy="1092200"/>
          </a:xfrm>
          <a:prstGeom prst="roundRect">
            <a:avLst/>
          </a:prstGeom>
          <a:solidFill>
            <a:srgbClr val="D7E4F2"/>
          </a:solidFill>
          <a:ln w="12700">
            <a:solidFill>
              <a:srgbClr val="4D4D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rmAutofit/>
          </a:bodyPr>
          <a:lstStyle/>
          <a:p>
            <a:pPr algn="ctr"/>
            <a:r>
              <a:rPr lang="en-US" altLang="zh-CN" sz="1100" b="1">
                <a:solidFill>
                  <a:srgbClr val="272727"/>
                </a:solidFill>
                <a:latin typeface="Arial" panose="020B0604020202020204" pitchFamily="34" charset="0"/>
              </a:rPr>
              <a:t>1.1 causal multiscale
transform
(frozen in validation)</a:t>
            </a:r>
            <a:endParaRPr lang="zh-CN" altLang="en-US" sz="1100" b="1">
              <a:solidFill>
                <a:srgbClr val="272727"/>
              </a:solidFill>
              <a:latin typeface="Arial" panose="020B0604020202020204" pitchFamily="34" charset="0"/>
            </a:endParaRPr>
          </a:p>
        </p:txBody>
      </p:sp>
      <p:cxnSp>
        <p:nvCxnSpPr>
          <p:cNvPr id="5" name="flow_input_to_base">
            <a:extLst>
              <a:ext uri="{FF2B5EF4-FFF2-40B4-BE49-F238E27FC236}">
                <a16:creationId xmlns:a16="http://schemas.microsoft.com/office/drawing/2014/main" id="{2A304533-4012-0B12-3E0B-230FB70BD1C0}"/>
              </a:ext>
            </a:extLst>
          </p:cNvPr>
          <p:cNvCxnSpPr/>
          <p:nvPr>
            <p:custDataLst>
              <p:tags r:id="rId1"/>
            </p:custDataLst>
          </p:nvPr>
        </p:nvCxnSpPr>
        <p:spPr>
          <a:xfrm>
            <a:off x="2057400" y="1511300"/>
            <a:ext cx="463550" cy="0"/>
          </a:xfrm>
          <a:prstGeom prst="line">
            <a:avLst/>
          </a:prstGeom>
          <a:ln w="15240">
            <a:solidFill>
              <a:srgbClr val="767676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imension_D1">
            <a:extLst>
              <a:ext uri="{FF2B5EF4-FFF2-40B4-BE49-F238E27FC236}">
                <a16:creationId xmlns:a16="http://schemas.microsoft.com/office/drawing/2014/main" id="{5EF362AD-E973-20C1-87CA-F365DC2910FD}"/>
              </a:ext>
            </a:extLst>
          </p:cNvPr>
          <p:cNvSpPr/>
          <p:nvPr/>
        </p:nvSpPr>
        <p:spPr>
          <a:xfrm>
            <a:off x="4800600" y="812800"/>
            <a:ext cx="1193800" cy="1168400"/>
          </a:xfrm>
          <a:prstGeom prst="roundRect">
            <a:avLst/>
          </a:prstGeom>
          <a:solidFill>
            <a:srgbClr val="DDE8F4"/>
          </a:solidFill>
          <a:ln w="12700">
            <a:solidFill>
              <a:srgbClr val="4D4D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rmAutofit/>
          </a:bodyPr>
          <a:lstStyle/>
          <a:p>
            <a:pPr algn="ctr"/>
            <a:r>
              <a:rPr lang="en-US" altLang="zh-CN" sz="1100" b="1">
                <a:solidFill>
                  <a:srgbClr val="272727"/>
                </a:solidFill>
                <a:latin typeface="Arial" panose="020B0604020202020204" pitchFamily="34" charset="0"/>
              </a:rPr>
              <a:t>D1
Sensor
health</a:t>
            </a:r>
            <a:endParaRPr lang="zh-CN" altLang="en-US" sz="1100" b="1">
              <a:solidFill>
                <a:srgbClr val="272727"/>
              </a:solidFill>
              <a:latin typeface="Arial" panose="020B0604020202020204" pitchFamily="34" charset="0"/>
            </a:endParaRPr>
          </a:p>
        </p:txBody>
      </p:sp>
      <p:sp>
        <p:nvSpPr>
          <p:cNvPr id="7" name="dimension_D2">
            <a:extLst>
              <a:ext uri="{FF2B5EF4-FFF2-40B4-BE49-F238E27FC236}">
                <a16:creationId xmlns:a16="http://schemas.microsoft.com/office/drawing/2014/main" id="{4A01DE71-552B-0E65-AED6-ECB8B7AC3377}"/>
              </a:ext>
            </a:extLst>
          </p:cNvPr>
          <p:cNvSpPr/>
          <p:nvPr/>
        </p:nvSpPr>
        <p:spPr>
          <a:xfrm>
            <a:off x="6197600" y="812800"/>
            <a:ext cx="1193800" cy="1168400"/>
          </a:xfrm>
          <a:prstGeom prst="roundRect">
            <a:avLst/>
          </a:prstGeom>
          <a:solidFill>
            <a:srgbClr val="DDE8F4"/>
          </a:solidFill>
          <a:ln w="12700">
            <a:solidFill>
              <a:srgbClr val="4D4D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rmAutofit/>
          </a:bodyPr>
          <a:lstStyle/>
          <a:p>
            <a:pPr algn="ctr"/>
            <a:r>
              <a:rPr lang="en-US" altLang="zh-CN" sz="1100" b="1">
                <a:solidFill>
                  <a:srgbClr val="272727"/>
                </a:solidFill>
                <a:latin typeface="Arial" panose="020B0604020202020204" pitchFamily="34" charset="0"/>
              </a:rPr>
              <a:t>D2
Continuity &amp;
availability</a:t>
            </a:r>
            <a:endParaRPr lang="zh-CN" altLang="en-US" sz="1100" b="1">
              <a:solidFill>
                <a:srgbClr val="272727"/>
              </a:solidFill>
              <a:latin typeface="Arial" panose="020B0604020202020204" pitchFamily="34" charset="0"/>
            </a:endParaRPr>
          </a:p>
        </p:txBody>
      </p:sp>
      <p:sp>
        <p:nvSpPr>
          <p:cNvPr id="8" name="dimension_D5">
            <a:extLst>
              <a:ext uri="{FF2B5EF4-FFF2-40B4-BE49-F238E27FC236}">
                <a16:creationId xmlns:a16="http://schemas.microsoft.com/office/drawing/2014/main" id="{6B949F8A-90B0-CCD8-6D7F-AA785E4D19D1}"/>
              </a:ext>
            </a:extLst>
          </p:cNvPr>
          <p:cNvSpPr/>
          <p:nvPr/>
        </p:nvSpPr>
        <p:spPr>
          <a:xfrm>
            <a:off x="7594600" y="812800"/>
            <a:ext cx="1193800" cy="1168400"/>
          </a:xfrm>
          <a:prstGeom prst="roundRect">
            <a:avLst/>
          </a:prstGeom>
          <a:solidFill>
            <a:srgbClr val="DDE8F4"/>
          </a:solidFill>
          <a:ln w="12700">
            <a:solidFill>
              <a:srgbClr val="4D4D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rmAutofit/>
          </a:bodyPr>
          <a:lstStyle/>
          <a:p>
            <a:pPr algn="ctr"/>
            <a:r>
              <a:rPr lang="en-US" altLang="zh-CN" sz="1100" b="1">
                <a:solidFill>
                  <a:srgbClr val="272727"/>
                </a:solidFill>
                <a:latin typeface="Arial" panose="020B0604020202020204" pitchFamily="34" charset="0"/>
              </a:rPr>
              <a:t>D5
Topological
structure</a:t>
            </a:r>
            <a:endParaRPr lang="zh-CN" altLang="en-US" sz="1100" b="1">
              <a:solidFill>
                <a:srgbClr val="272727"/>
              </a:solidFill>
              <a:latin typeface="Arial" panose="020B0604020202020204" pitchFamily="34" charset="0"/>
            </a:endParaRPr>
          </a:p>
        </p:txBody>
      </p:sp>
      <p:sp>
        <p:nvSpPr>
          <p:cNvPr id="9" name="dimension_D4">
            <a:extLst>
              <a:ext uri="{FF2B5EF4-FFF2-40B4-BE49-F238E27FC236}">
                <a16:creationId xmlns:a16="http://schemas.microsoft.com/office/drawing/2014/main" id="{DA14EA56-D5A3-28B2-7A1E-1B33ABFABB1B}"/>
              </a:ext>
            </a:extLst>
          </p:cNvPr>
          <p:cNvSpPr/>
          <p:nvPr/>
        </p:nvSpPr>
        <p:spPr>
          <a:xfrm>
            <a:off x="8991600" y="812800"/>
            <a:ext cx="1193800" cy="1168400"/>
          </a:xfrm>
          <a:prstGeom prst="roundRect">
            <a:avLst/>
          </a:prstGeom>
          <a:solidFill>
            <a:srgbClr val="DDE8F4"/>
          </a:solidFill>
          <a:ln w="12700">
            <a:solidFill>
              <a:srgbClr val="4D4D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rmAutofit/>
          </a:bodyPr>
          <a:lstStyle/>
          <a:p>
            <a:pPr algn="ctr"/>
            <a:r>
              <a:rPr lang="en-US" altLang="zh-CN" sz="1100" b="1">
                <a:solidFill>
                  <a:srgbClr val="272727"/>
                </a:solidFill>
                <a:latin typeface="Arial" panose="020B0604020202020204" pitchFamily="34" charset="0"/>
              </a:rPr>
              <a:t>D4
Pair temporal
consistency</a:t>
            </a:r>
            <a:endParaRPr lang="zh-CN" altLang="en-US" sz="1100" b="1">
              <a:solidFill>
                <a:srgbClr val="272727"/>
              </a:solidFill>
              <a:latin typeface="Arial" panose="020B0604020202020204" pitchFamily="34" charset="0"/>
            </a:endParaRPr>
          </a:p>
        </p:txBody>
      </p:sp>
      <p:sp>
        <p:nvSpPr>
          <p:cNvPr id="10" name="dimension_D3">
            <a:extLst>
              <a:ext uri="{FF2B5EF4-FFF2-40B4-BE49-F238E27FC236}">
                <a16:creationId xmlns:a16="http://schemas.microsoft.com/office/drawing/2014/main" id="{2E4864ED-93FC-4343-90D1-B894740DB7B2}"/>
              </a:ext>
            </a:extLst>
          </p:cNvPr>
          <p:cNvSpPr/>
          <p:nvPr/>
        </p:nvSpPr>
        <p:spPr>
          <a:xfrm>
            <a:off x="10388600" y="812800"/>
            <a:ext cx="1193800" cy="1168400"/>
          </a:xfrm>
          <a:prstGeom prst="roundRect">
            <a:avLst/>
          </a:prstGeom>
          <a:solidFill>
            <a:srgbClr val="F6E3B7"/>
          </a:solidFill>
          <a:ln w="12700">
            <a:solidFill>
              <a:srgbClr val="4D4D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rmAutofit/>
          </a:bodyPr>
          <a:lstStyle/>
          <a:p>
            <a:pPr algn="ctr"/>
            <a:r>
              <a:rPr lang="en-US" altLang="zh-CN" sz="1100" b="1">
                <a:solidFill>
                  <a:srgbClr val="272727"/>
                </a:solidFill>
                <a:latin typeface="Arial" panose="020B0604020202020204" pitchFamily="34" charset="0"/>
              </a:rPr>
              <a:t>D3
Independent
Safety Gate</a:t>
            </a:r>
            <a:endParaRPr lang="zh-CN" altLang="en-US" sz="1100" b="1">
              <a:solidFill>
                <a:srgbClr val="272727"/>
              </a:solidFill>
              <a:latin typeface="Arial" panose="020B0604020202020204" pitchFamily="34" charset="0"/>
            </a:endParaRPr>
          </a:p>
        </p:txBody>
      </p:sp>
      <p:cxnSp>
        <p:nvCxnSpPr>
          <p:cNvPr id="11" name="flow_base_to_bus">
            <a:extLst>
              <a:ext uri="{FF2B5EF4-FFF2-40B4-BE49-F238E27FC236}">
                <a16:creationId xmlns:a16="http://schemas.microsoft.com/office/drawing/2014/main" id="{FECBA8D4-42E5-42A3-56DF-C7EEC04ECF31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>
            <a:off x="4343400" y="1511300"/>
            <a:ext cx="209550" cy="0"/>
          </a:xfrm>
          <a:prstGeom prst="line">
            <a:avLst/>
          </a:prstGeom>
          <a:ln w="12700">
            <a:solidFill>
              <a:srgbClr val="7884B4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flow_bus_vertical">
            <a:extLst>
              <a:ext uri="{FF2B5EF4-FFF2-40B4-BE49-F238E27FC236}">
                <a16:creationId xmlns:a16="http://schemas.microsoft.com/office/drawing/2014/main" id="{0406F1A5-1C66-4FD8-C095-7F7F01DD215F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 flipV="1">
            <a:off x="4572000" y="628650"/>
            <a:ext cx="0" cy="882650"/>
          </a:xfrm>
          <a:prstGeom prst="line">
            <a:avLst/>
          </a:prstGeom>
          <a:ln w="12700">
            <a:solidFill>
              <a:srgbClr val="7884B4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flow_bus_horizontal">
            <a:extLst>
              <a:ext uri="{FF2B5EF4-FFF2-40B4-BE49-F238E27FC236}">
                <a16:creationId xmlns:a16="http://schemas.microsoft.com/office/drawing/2014/main" id="{CE17687C-21AF-32ED-CCB0-558F31D19DFB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572000" y="609600"/>
            <a:ext cx="6394450" cy="0"/>
          </a:xfrm>
          <a:prstGeom prst="line">
            <a:avLst/>
          </a:prstGeom>
          <a:ln w="12700">
            <a:solidFill>
              <a:srgbClr val="7884B4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flow_bus_to_D1">
            <a:extLst>
              <a:ext uri="{FF2B5EF4-FFF2-40B4-BE49-F238E27FC236}">
                <a16:creationId xmlns:a16="http://schemas.microsoft.com/office/drawing/2014/main" id="{F0EE5AF9-BBCA-81A2-4089-0B7956464EEA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397500" y="609600"/>
            <a:ext cx="0" cy="184150"/>
          </a:xfrm>
          <a:prstGeom prst="line">
            <a:avLst/>
          </a:prstGeom>
          <a:ln w="12700">
            <a:solidFill>
              <a:srgbClr val="7884B4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flow_bus_to_D2">
            <a:extLst>
              <a:ext uri="{FF2B5EF4-FFF2-40B4-BE49-F238E27FC236}">
                <a16:creationId xmlns:a16="http://schemas.microsoft.com/office/drawing/2014/main" id="{182D223C-ACB7-45C1-0FAD-C0124AD033C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794500" y="609600"/>
            <a:ext cx="0" cy="184150"/>
          </a:xfrm>
          <a:prstGeom prst="line">
            <a:avLst/>
          </a:prstGeom>
          <a:ln w="12700">
            <a:solidFill>
              <a:srgbClr val="7884B4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_bus_to_D5">
            <a:extLst>
              <a:ext uri="{FF2B5EF4-FFF2-40B4-BE49-F238E27FC236}">
                <a16:creationId xmlns:a16="http://schemas.microsoft.com/office/drawing/2014/main" id="{E6834791-A3FC-4A4A-E74F-13F241E6C9C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91500" y="609600"/>
            <a:ext cx="0" cy="184150"/>
          </a:xfrm>
          <a:prstGeom prst="line">
            <a:avLst/>
          </a:prstGeom>
          <a:ln w="12700">
            <a:solidFill>
              <a:srgbClr val="7884B4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_bus_to_D4">
            <a:extLst>
              <a:ext uri="{FF2B5EF4-FFF2-40B4-BE49-F238E27FC236}">
                <a16:creationId xmlns:a16="http://schemas.microsoft.com/office/drawing/2014/main" id="{C48E964F-F142-1D53-3536-C68A859AE3F4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9588500" y="609600"/>
            <a:ext cx="0" cy="184150"/>
          </a:xfrm>
          <a:prstGeom prst="line">
            <a:avLst/>
          </a:prstGeom>
          <a:ln w="12700">
            <a:solidFill>
              <a:srgbClr val="7884B4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_bus_to_D3">
            <a:extLst>
              <a:ext uri="{FF2B5EF4-FFF2-40B4-BE49-F238E27FC236}">
                <a16:creationId xmlns:a16="http://schemas.microsoft.com/office/drawing/2014/main" id="{970DD66F-AC90-9C8A-9C43-6C6AD1907E66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10985500" y="609600"/>
            <a:ext cx="0" cy="184150"/>
          </a:xfrm>
          <a:prstGeom prst="line">
            <a:avLst/>
          </a:prstGeom>
          <a:ln w="12700">
            <a:solidFill>
              <a:srgbClr val="C89B3C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node_product">
            <a:extLst>
              <a:ext uri="{FF2B5EF4-FFF2-40B4-BE49-F238E27FC236}">
                <a16:creationId xmlns:a16="http://schemas.microsoft.com/office/drawing/2014/main" id="{5A17FA5C-8052-AFAE-5C34-B15E44C7465C}"/>
              </a:ext>
            </a:extLst>
          </p:cNvPr>
          <p:cNvSpPr/>
          <p:nvPr/>
        </p:nvSpPr>
        <p:spPr>
          <a:xfrm>
            <a:off x="5283200" y="2971800"/>
            <a:ext cx="2463800" cy="1168400"/>
          </a:xfrm>
          <a:prstGeom prst="roundRect">
            <a:avLst/>
          </a:prstGeom>
          <a:solidFill>
            <a:srgbClr val="E8D9E2"/>
          </a:solidFill>
          <a:ln w="12700">
            <a:solidFill>
              <a:srgbClr val="4D4D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rmAutofit/>
          </a:bodyPr>
          <a:lstStyle/>
          <a:p>
            <a:pPr algn="ctr"/>
            <a:r>
              <a:rPr lang="en-US" altLang="zh-CN" sz="1100" b="1">
                <a:solidFill>
                  <a:srgbClr val="272727"/>
                </a:solidFill>
                <a:latin typeface="Arial" panose="020B0604020202020204" pitchFamily="34" charset="0"/>
              </a:rPr>
              <a:t>Node product
D1 + D2 + D5
Full / Basic separate</a:t>
            </a:r>
            <a:endParaRPr lang="zh-CN" altLang="en-US" sz="1100" b="1">
              <a:solidFill>
                <a:srgbClr val="272727"/>
              </a:solidFill>
              <a:latin typeface="Arial" panose="020B0604020202020204" pitchFamily="34" charset="0"/>
            </a:endParaRPr>
          </a:p>
        </p:txBody>
      </p:sp>
      <p:sp>
        <p:nvSpPr>
          <p:cNvPr id="20" name="pair_product">
            <a:extLst>
              <a:ext uri="{FF2B5EF4-FFF2-40B4-BE49-F238E27FC236}">
                <a16:creationId xmlns:a16="http://schemas.microsoft.com/office/drawing/2014/main" id="{4F0A2607-A689-A8CD-1831-8DBFA335854D}"/>
              </a:ext>
            </a:extLst>
          </p:cNvPr>
          <p:cNvSpPr/>
          <p:nvPr/>
        </p:nvSpPr>
        <p:spPr>
          <a:xfrm>
            <a:off x="8610600" y="2971800"/>
            <a:ext cx="2463800" cy="1168400"/>
          </a:xfrm>
          <a:prstGeom prst="roundRect">
            <a:avLst/>
          </a:prstGeom>
          <a:solidFill>
            <a:srgbClr val="E8D9E2"/>
          </a:solidFill>
          <a:ln w="12700">
            <a:solidFill>
              <a:srgbClr val="4D4D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rmAutofit/>
          </a:bodyPr>
          <a:lstStyle/>
          <a:p>
            <a:pPr algn="ctr"/>
            <a:r>
              <a:rPr lang="en-US" altLang="zh-CN" sz="1100" b="1">
                <a:solidFill>
                  <a:srgbClr val="272727"/>
                </a:solidFill>
                <a:latin typeface="Arial" panose="020B0604020202020204" pitchFamily="34" charset="0"/>
              </a:rPr>
              <a:t>Pair product
Target node + peer node
+ independent D4_raw</a:t>
            </a:r>
            <a:endParaRPr lang="zh-CN" altLang="en-US" sz="1100" b="1">
              <a:solidFill>
                <a:srgbClr val="272727"/>
              </a:solidFill>
              <a:latin typeface="Arial" panose="020B0604020202020204" pitchFamily="34" charset="0"/>
            </a:endParaRPr>
          </a:p>
        </p:txBody>
      </p:sp>
      <p:cxnSp>
        <p:nvCxnSpPr>
          <p:cNvPr id="21" name="node_bus_drop_425">
            <a:extLst>
              <a:ext uri="{FF2B5EF4-FFF2-40B4-BE49-F238E27FC236}">
                <a16:creationId xmlns:a16="http://schemas.microsoft.com/office/drawing/2014/main" id="{164D2BAE-B42F-E80D-C8EC-B332A68D4CB6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5397500" y="1981200"/>
            <a:ext cx="0" cy="336550"/>
          </a:xfrm>
          <a:prstGeom prst="line">
            <a:avLst/>
          </a:prstGeom>
          <a:ln w="15240">
            <a:solidFill>
              <a:srgbClr val="767676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node_bus_drop_535">
            <a:extLst>
              <a:ext uri="{FF2B5EF4-FFF2-40B4-BE49-F238E27FC236}">
                <a16:creationId xmlns:a16="http://schemas.microsoft.com/office/drawing/2014/main" id="{D878C298-540B-C47B-EE81-53C01E60AD8E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>
            <a:off x="6794500" y="1981200"/>
            <a:ext cx="0" cy="336550"/>
          </a:xfrm>
          <a:prstGeom prst="line">
            <a:avLst/>
          </a:prstGeom>
          <a:ln w="15240">
            <a:solidFill>
              <a:srgbClr val="767676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node_bus_drop_645">
            <a:extLst>
              <a:ext uri="{FF2B5EF4-FFF2-40B4-BE49-F238E27FC236}">
                <a16:creationId xmlns:a16="http://schemas.microsoft.com/office/drawing/2014/main" id="{689AC27C-81E4-C69B-C3EB-5C09562390EB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>
            <a:off x="8191500" y="1981200"/>
            <a:ext cx="0" cy="336550"/>
          </a:xfrm>
          <a:prstGeom prst="line">
            <a:avLst/>
          </a:prstGeom>
          <a:ln w="15240">
            <a:solidFill>
              <a:srgbClr val="767676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node_evidence_bus">
            <a:extLst>
              <a:ext uri="{FF2B5EF4-FFF2-40B4-BE49-F238E27FC236}">
                <a16:creationId xmlns:a16="http://schemas.microsoft.com/office/drawing/2014/main" id="{FEB8189C-587D-41C8-566B-ACE11F753D0D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>
            <a:off x="5397500" y="2336800"/>
            <a:ext cx="2774950" cy="0"/>
          </a:xfrm>
          <a:prstGeom prst="line">
            <a:avLst/>
          </a:prstGeom>
          <a:ln w="15240">
            <a:solidFill>
              <a:srgbClr val="767676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node_bus_to_product">
            <a:extLst>
              <a:ext uri="{FF2B5EF4-FFF2-40B4-BE49-F238E27FC236}">
                <a16:creationId xmlns:a16="http://schemas.microsoft.com/office/drawing/2014/main" id="{D5DDAC2A-BDA0-EA03-D72D-45BC679F1375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>
            <a:off x="6515100" y="2336800"/>
            <a:ext cx="0" cy="615950"/>
          </a:xfrm>
          <a:prstGeom prst="line">
            <a:avLst/>
          </a:prstGeom>
          <a:ln w="15240">
            <a:solidFill>
              <a:srgbClr val="767676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pair_d4">
            <a:extLst>
              <a:ext uri="{FF2B5EF4-FFF2-40B4-BE49-F238E27FC236}">
                <a16:creationId xmlns:a16="http://schemas.microsoft.com/office/drawing/2014/main" id="{3D8D3B5A-FC23-6B06-7DFF-365E3B80E4AF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>
            <a:off x="9588500" y="1981200"/>
            <a:ext cx="249269" cy="972147"/>
          </a:xfrm>
          <a:prstGeom prst="line">
            <a:avLst/>
          </a:prstGeom>
          <a:ln w="15240">
            <a:solidFill>
              <a:srgbClr val="767676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pair_node">
            <a:extLst>
              <a:ext uri="{FF2B5EF4-FFF2-40B4-BE49-F238E27FC236}">
                <a16:creationId xmlns:a16="http://schemas.microsoft.com/office/drawing/2014/main" id="{050DE925-065D-DE4C-0B5C-132757921745}"/>
              </a:ext>
            </a:extLst>
          </p:cNvPr>
          <p:cNvCxnSpPr/>
          <p:nvPr>
            <p:custDataLst>
              <p:tags r:id="rId16"/>
            </p:custDataLst>
          </p:nvPr>
        </p:nvCxnSpPr>
        <p:spPr>
          <a:xfrm>
            <a:off x="7747000" y="3556000"/>
            <a:ext cx="844550" cy="0"/>
          </a:xfrm>
          <a:prstGeom prst="line">
            <a:avLst/>
          </a:prstGeom>
          <a:ln w="15240">
            <a:solidFill>
              <a:srgbClr val="767676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gate_note">
            <a:extLst>
              <a:ext uri="{FF2B5EF4-FFF2-40B4-BE49-F238E27FC236}">
                <a16:creationId xmlns:a16="http://schemas.microsoft.com/office/drawing/2014/main" id="{A545006D-BA5F-B06C-9A31-CE32318330FA}"/>
              </a:ext>
            </a:extLst>
          </p:cNvPr>
          <p:cNvSpPr txBox="1"/>
          <p:nvPr/>
        </p:nvSpPr>
        <p:spPr>
          <a:xfrm>
            <a:off x="10261600" y="2171700"/>
            <a:ext cx="1447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altLang="zh-CN" sz="900" b="1">
                <a:solidFill>
                  <a:srgbClr val="8A671E"/>
                </a:solidFill>
                <a:latin typeface="Arial" panose="020B0604020202020204" pitchFamily="34" charset="0"/>
              </a:rPr>
              <a:t>Applied after scoring;
not averaged</a:t>
            </a:r>
            <a:endParaRPr lang="zh-CN" altLang="en-US" sz="900" b="1">
              <a:solidFill>
                <a:srgbClr val="8A671E"/>
              </a:solidFill>
              <a:latin typeface="Arial" panose="020B0604020202020204" pitchFamily="34" charset="0"/>
            </a:endParaRPr>
          </a:p>
        </p:txBody>
      </p:sp>
      <p:sp>
        <p:nvSpPr>
          <p:cNvPr id="29" name="plant_summary">
            <a:extLst>
              <a:ext uri="{FF2B5EF4-FFF2-40B4-BE49-F238E27FC236}">
                <a16:creationId xmlns:a16="http://schemas.microsoft.com/office/drawing/2014/main" id="{8FBF1A1E-EC96-C590-05C9-9413689BD42E}"/>
              </a:ext>
            </a:extLst>
          </p:cNvPr>
          <p:cNvSpPr/>
          <p:nvPr/>
        </p:nvSpPr>
        <p:spPr>
          <a:xfrm>
            <a:off x="6959600" y="4635500"/>
            <a:ext cx="2794000" cy="787400"/>
          </a:xfrm>
          <a:prstGeom prst="roundRect">
            <a:avLst/>
          </a:prstGeom>
          <a:solidFill>
            <a:srgbClr val="E8D9E2"/>
          </a:solidFill>
          <a:ln w="12700">
            <a:solidFill>
              <a:srgbClr val="4D4D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rmAutofit/>
          </a:bodyPr>
          <a:lstStyle/>
          <a:p>
            <a:pPr algn="ctr"/>
            <a:r>
              <a:rPr lang="en-US" altLang="zh-CN" sz="1100" b="1">
                <a:solidFill>
                  <a:srgbClr val="272727"/>
                </a:solidFill>
                <a:latin typeface="Arial" panose="020B0604020202020204" pitchFamily="34" charset="0"/>
              </a:rPr>
              <a:t>Plant-level retrospective summary
coverage-stratified; no A-E grades</a:t>
            </a:r>
            <a:endParaRPr lang="zh-CN" altLang="en-US" sz="1100" b="1">
              <a:solidFill>
                <a:srgbClr val="272727"/>
              </a:solidFill>
              <a:latin typeface="Arial" panose="020B0604020202020204" pitchFamily="34" charset="0"/>
            </a:endParaRPr>
          </a:p>
        </p:txBody>
      </p:sp>
      <p:cxnSp>
        <p:nvCxnSpPr>
          <p:cNvPr id="30" name="node_to_plant">
            <a:extLst>
              <a:ext uri="{FF2B5EF4-FFF2-40B4-BE49-F238E27FC236}">
                <a16:creationId xmlns:a16="http://schemas.microsoft.com/office/drawing/2014/main" id="{880A9D5D-DEF8-0689-E79F-070387B484D4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>
            <a:off x="6515100" y="4140200"/>
            <a:ext cx="1087517" cy="487507"/>
          </a:xfrm>
          <a:prstGeom prst="line">
            <a:avLst/>
          </a:prstGeom>
          <a:ln w="15240">
            <a:solidFill>
              <a:srgbClr val="767676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pair_to_plant">
            <a:extLst>
              <a:ext uri="{FF2B5EF4-FFF2-40B4-BE49-F238E27FC236}">
                <a16:creationId xmlns:a16="http://schemas.microsoft.com/office/drawing/2014/main" id="{24738F88-2D0A-5F1B-58CA-47ACDC3D68AC}"/>
              </a:ext>
            </a:extLst>
          </p:cNvPr>
          <p:cNvCxnSpPr/>
          <p:nvPr>
            <p:custDataLst>
              <p:tags r:id="rId18"/>
            </p:custDataLst>
          </p:nvPr>
        </p:nvCxnSpPr>
        <p:spPr>
          <a:xfrm flipH="1">
            <a:off x="9109092" y="4140200"/>
            <a:ext cx="733408" cy="484795"/>
          </a:xfrm>
          <a:prstGeom prst="line">
            <a:avLst/>
          </a:prstGeom>
          <a:ln w="15240">
            <a:solidFill>
              <a:srgbClr val="767676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laim_supported">
            <a:extLst>
              <a:ext uri="{FF2B5EF4-FFF2-40B4-BE49-F238E27FC236}">
                <a16:creationId xmlns:a16="http://schemas.microsoft.com/office/drawing/2014/main" id="{029EB4F2-966C-B64C-2036-FE410D5CBE48}"/>
              </a:ext>
            </a:extLst>
          </p:cNvPr>
          <p:cNvSpPr/>
          <p:nvPr/>
        </p:nvSpPr>
        <p:spPr>
          <a:xfrm>
            <a:off x="660400" y="5867400"/>
            <a:ext cx="3429000" cy="609600"/>
          </a:xfrm>
          <a:prstGeom prst="roundRect">
            <a:avLst/>
          </a:prstGeom>
          <a:solidFill>
            <a:srgbClr val="DDECDD"/>
          </a:solidFill>
          <a:ln w="12700">
            <a:solidFill>
              <a:srgbClr val="4D4D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rmAutofit/>
          </a:bodyPr>
          <a:lstStyle/>
          <a:p>
            <a:pPr algn="ctr"/>
            <a:r>
              <a:rPr lang="en-US" altLang="zh-CN" sz="950" b="1">
                <a:solidFill>
                  <a:srgbClr val="272727"/>
                </a:solidFill>
                <a:latin typeface="Arial" panose="020B0604020202020204" pitchFamily="34" charset="0"/>
              </a:rPr>
              <a:t>Supported
Within-plant retrospective robustness</a:t>
            </a:r>
            <a:endParaRPr lang="zh-CN" altLang="en-US" sz="950" b="1">
              <a:solidFill>
                <a:srgbClr val="272727"/>
              </a:solidFill>
              <a:latin typeface="Arial" panose="020B0604020202020204" pitchFamily="34" charset="0"/>
            </a:endParaRPr>
          </a:p>
        </p:txBody>
      </p:sp>
      <p:sp>
        <p:nvSpPr>
          <p:cNvPr id="33" name="claim_pending">
            <a:extLst>
              <a:ext uri="{FF2B5EF4-FFF2-40B4-BE49-F238E27FC236}">
                <a16:creationId xmlns:a16="http://schemas.microsoft.com/office/drawing/2014/main" id="{6489CC9D-6DD8-BC82-3E2A-F9605991C227}"/>
              </a:ext>
            </a:extLst>
          </p:cNvPr>
          <p:cNvSpPr/>
          <p:nvPr/>
        </p:nvSpPr>
        <p:spPr>
          <a:xfrm>
            <a:off x="4381500" y="5867400"/>
            <a:ext cx="3429000" cy="609600"/>
          </a:xfrm>
          <a:prstGeom prst="roundRect">
            <a:avLst/>
          </a:prstGeom>
          <a:solidFill>
            <a:srgbClr val="F4E6C7"/>
          </a:solidFill>
          <a:ln w="12700">
            <a:solidFill>
              <a:srgbClr val="4D4D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rmAutofit/>
          </a:bodyPr>
          <a:lstStyle/>
          <a:p>
            <a:pPr algn="ctr"/>
            <a:r>
              <a:rPr lang="en-US" altLang="zh-CN" sz="950" b="1">
                <a:solidFill>
                  <a:srgbClr val="272727"/>
                </a:solidFill>
                <a:latin typeface="Arial" panose="020B0604020202020204" pitchFamily="34" charset="0"/>
              </a:rPr>
              <a:t>Pending
Field truth, future period, external plant</a:t>
            </a:r>
            <a:endParaRPr lang="zh-CN" altLang="en-US" sz="950" b="1">
              <a:solidFill>
                <a:srgbClr val="272727"/>
              </a:solidFill>
              <a:latin typeface="Arial" panose="020B0604020202020204" pitchFamily="34" charset="0"/>
            </a:endParaRPr>
          </a:p>
        </p:txBody>
      </p:sp>
      <p:sp>
        <p:nvSpPr>
          <p:cNvPr id="34" name="claim_prohibited">
            <a:extLst>
              <a:ext uri="{FF2B5EF4-FFF2-40B4-BE49-F238E27FC236}">
                <a16:creationId xmlns:a16="http://schemas.microsoft.com/office/drawing/2014/main" id="{3DB98F5B-C0AD-E762-DE7F-B886E67F986D}"/>
              </a:ext>
            </a:extLst>
          </p:cNvPr>
          <p:cNvSpPr/>
          <p:nvPr/>
        </p:nvSpPr>
        <p:spPr>
          <a:xfrm>
            <a:off x="8102600" y="5867400"/>
            <a:ext cx="3429000" cy="609600"/>
          </a:xfrm>
          <a:prstGeom prst="roundRect">
            <a:avLst/>
          </a:prstGeom>
          <a:solidFill>
            <a:srgbClr val="EBD6D6"/>
          </a:solidFill>
          <a:ln w="12700">
            <a:solidFill>
              <a:srgbClr val="4D4D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rmAutofit/>
          </a:bodyPr>
          <a:lstStyle/>
          <a:p>
            <a:pPr algn="ctr"/>
            <a:r>
              <a:rPr lang="en-US" altLang="zh-CN" sz="950" b="1">
                <a:solidFill>
                  <a:srgbClr val="272727"/>
                </a:solidFill>
                <a:latin typeface="Arial" panose="020B0604020202020204" pitchFamily="34" charset="0"/>
              </a:rPr>
              <a:t>Not supported
Deployment effectiveness or optimal weights</a:t>
            </a:r>
            <a:endParaRPr lang="zh-CN" altLang="en-US" sz="950" b="1">
              <a:solidFill>
                <a:srgbClr val="272727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6632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162"/>
  <p:tag name="SCIENTIFICILLUSTRATORBEGINY" val="119"/>
  <p:tag name="SCIENTIFICILLUSTRATORENDX" val="198.5"/>
  <p:tag name="SCIENTIFICILLUSTRATORENDY" val="119"/>
  <p:tag name="SCIENTIFICILLUSTRATORSTARTCLEARANCE" val="0"/>
  <p:tag name="SCIENTIFICILLUSTRATORENDCLEARANCE" val="1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342"/>
  <p:tag name="SCIENTIFICILLUSTRATORBEGINY" val="119"/>
  <p:tag name="SCIENTIFICILLUSTRATORENDX" val="358.5"/>
  <p:tag name="SCIENTIFICILLUSTRATORENDY" val="119"/>
  <p:tag name="SCIENTIFICILLUSTRATORSTARTCLEARANCE" val="0"/>
  <p:tag name="SCIENTIFICILLUSTRATORENDCLEARANCE" val="1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360"/>
  <p:tag name="SCIENTIFICILLUSTRATORBEGINY" val="119"/>
  <p:tag name="SCIENTIFICILLUSTRATORENDX" val="360"/>
  <p:tag name="SCIENTIFICILLUSTRATORENDY" val="49.5"/>
  <p:tag name="SCIENTIFICILLUSTRATORSTARTCLEARANCE" val="0"/>
  <p:tag name="SCIENTIFICILLUSTRATORENDCLEARANCE" val="1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360"/>
  <p:tag name="SCIENTIFICILLUSTRATORBEGINY" val="48"/>
  <p:tag name="SCIENTIFICILLUSTRATORENDX" val="863.5"/>
  <p:tag name="SCIENTIFICILLUSTRATORENDY" val="48"/>
  <p:tag name="SCIENTIFICILLUSTRATORSTARTCLEARANCE" val="0"/>
  <p:tag name="SCIENTIFICILLUSTRATORENDCLEARANCE" val="1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425"/>
  <p:tag name="SCIENTIFICILLUSTRATORBEGINY" val="48"/>
  <p:tag name="SCIENTIFICILLUSTRATORENDX" val="425"/>
  <p:tag name="SCIENTIFICILLUSTRATORENDY" val="62.5"/>
  <p:tag name="SCIENTIFICILLUSTRATORSTARTCLEARANCE" val="0"/>
  <p:tag name="SCIENTIFICILLUSTRATORENDCLEARANCE" val="1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535"/>
  <p:tag name="SCIENTIFICILLUSTRATORBEGINY" val="48"/>
  <p:tag name="SCIENTIFICILLUSTRATORENDX" val="535"/>
  <p:tag name="SCIENTIFICILLUSTRATORENDY" val="62.5"/>
  <p:tag name="SCIENTIFICILLUSTRATORSTARTCLEARANCE" val="0"/>
  <p:tag name="SCIENTIFICILLUSTRATORENDCLEARANCE" val="1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645"/>
  <p:tag name="SCIENTIFICILLUSTRATORBEGINY" val="48"/>
  <p:tag name="SCIENTIFICILLUSTRATORENDX" val="645"/>
  <p:tag name="SCIENTIFICILLUSTRATORENDY" val="62.5"/>
  <p:tag name="SCIENTIFICILLUSTRATORSTARTCLEARANCE" val="0"/>
  <p:tag name="SCIENTIFICILLUSTRATORENDCLEARANCE" val="1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755"/>
  <p:tag name="SCIENTIFICILLUSTRATORBEGINY" val="48"/>
  <p:tag name="SCIENTIFICILLUSTRATORENDX" val="755"/>
  <p:tag name="SCIENTIFICILLUSTRATORENDY" val="62.5"/>
  <p:tag name="SCIENTIFICILLUSTRATORSTARTCLEARANCE" val="0"/>
  <p:tag name="SCIENTIFICILLUSTRATORENDCLEARANCE" val="1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865"/>
  <p:tag name="SCIENTIFICILLUSTRATORBEGINY" val="48"/>
  <p:tag name="SCIENTIFICILLUSTRATORENDX" val="865"/>
  <p:tag name="SCIENTIFICILLUSTRATORENDY" val="62.5"/>
  <p:tag name="SCIENTIFICILLUSTRATORSTARTCLEARANCE" val="0"/>
  <p:tag name="SCIENTIFICILLUSTRATORENDCLEARANCE" val="1.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425"/>
  <p:tag name="SCIENTIFICILLUSTRATORBEGINY" val="156"/>
  <p:tag name="SCIENTIFICILLUSTRATORENDX" val="425"/>
  <p:tag name="SCIENTIFICILLUSTRATORENDY" val="182.5"/>
  <p:tag name="SCIENTIFICILLUSTRATORSTARTCLEARANCE" val="0"/>
  <p:tag name="SCIENTIFICILLUSTRATORENDCLEARANCE" val="1.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535"/>
  <p:tag name="SCIENTIFICILLUSTRATORBEGINY" val="156"/>
  <p:tag name="SCIENTIFICILLUSTRATORENDX" val="535"/>
  <p:tag name="SCIENTIFICILLUSTRATORENDY" val="182.5"/>
  <p:tag name="SCIENTIFICILLUSTRATORSTARTCLEARANCE" val="0"/>
  <p:tag name="SCIENTIFICILLUSTRATORENDCLEARANCE" val="1.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645"/>
  <p:tag name="SCIENTIFICILLUSTRATORBEGINY" val="156"/>
  <p:tag name="SCIENTIFICILLUSTRATORENDX" val="645"/>
  <p:tag name="SCIENTIFICILLUSTRATORENDY" val="182.5"/>
  <p:tag name="SCIENTIFICILLUSTRATORSTARTCLEARANCE" val="0"/>
  <p:tag name="SCIENTIFICILLUSTRATORENDCLEARANCE" val="1.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425"/>
  <p:tag name="SCIENTIFICILLUSTRATORBEGINY" val="184"/>
  <p:tag name="SCIENTIFICILLUSTRATORENDX" val="643.5"/>
  <p:tag name="SCIENTIFICILLUSTRATORENDY" val="184"/>
  <p:tag name="SCIENTIFICILLUSTRATORSTARTCLEARANCE" val="0"/>
  <p:tag name="SCIENTIFICILLUSTRATORENDCLEARANCE" val="1.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513"/>
  <p:tag name="SCIENTIFICILLUSTRATORBEGINY" val="184"/>
  <p:tag name="SCIENTIFICILLUSTRATORENDX" val="513"/>
  <p:tag name="SCIENTIFICILLUSTRATORENDY" val="232.5"/>
  <p:tag name="SCIENTIFICILLUSTRATORSTARTCLEARANCE" val="0"/>
  <p:tag name="SCIENTIFICILLUSTRATORENDCLEARANCE" val="1.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755"/>
  <p:tag name="SCIENTIFICILLUSTRATORBEGINY" val="156"/>
  <p:tag name="SCIENTIFICILLUSTRATORENDX" val="774.627436974598"/>
  <p:tag name="SCIENTIFICILLUSTRATORENDY" val="232.547004200934"/>
  <p:tag name="SCIENTIFICILLUSTRATORSTARTCLEARANCE" val="0"/>
  <p:tag name="SCIENTIFICILLUSTRATORENDCLEARANCE" val="1.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610"/>
  <p:tag name="SCIENTIFICILLUSTRATORBEGINY" val="280"/>
  <p:tag name="SCIENTIFICILLUSTRATORENDX" val="676.5"/>
  <p:tag name="SCIENTIFICILLUSTRATORENDY" val="280"/>
  <p:tag name="SCIENTIFICILLUSTRATORSTARTCLEARANCE" val="0"/>
  <p:tag name="SCIENTIFICILLUSTRATORENDCLEARANCE" val="1.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513"/>
  <p:tag name="SCIENTIFICILLUSTRATORBEGINY" val="326"/>
  <p:tag name="SCIENTIFICILLUSTRATORENDX" val="598.631236013228"/>
  <p:tag name="SCIENTIFICILLUSTRATORENDY" val="364.386416143861"/>
  <p:tag name="SCIENTIFICILLUSTRATORSTARTCLEARANCE" val="0"/>
  <p:tag name="SCIENTIFICILLUSTRATORENDCLEARANCE" val="1.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775"/>
  <p:tag name="SCIENTIFICILLUSTRATORBEGINY" val="326"/>
  <p:tag name="SCIENTIFICILLUSTRATORENDX" val="717.251328761969"/>
  <p:tag name="SCIENTIFICILLUSTRATORENDY" val="364.172850479376"/>
  <p:tag name="SCIENTIFICILLUSTRATORSTARTCLEARANCE" val="0"/>
  <p:tag name="SCIENTIFICILLUSTRATORENDCLEARANCE" val="1.5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</Words>
  <Application>Microsoft Office PowerPoint</Application>
  <PresentationFormat>宽屏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1998 muzi</dc:creator>
  <cp:lastModifiedBy>1998 muzi</cp:lastModifiedBy>
  <cp:revision>1</cp:revision>
  <dcterms:created xsi:type="dcterms:W3CDTF">2026-07-31T08:25:16Z</dcterms:created>
  <dcterms:modified xsi:type="dcterms:W3CDTF">2026-07-31T08:25:16Z</dcterms:modified>
</cp:coreProperties>
</file>