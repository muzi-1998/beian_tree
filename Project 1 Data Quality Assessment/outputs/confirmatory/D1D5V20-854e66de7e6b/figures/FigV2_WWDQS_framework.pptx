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779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6B2656-0CEA-C09E-94D1-550205C2A6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D6BF9A8-31DB-649A-D5FB-124A80B40A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5B7145-F316-A725-BE28-5399EC9EE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7B075-1BF0-44E4-B60F-78264AFE22DA}" type="datetimeFigureOut">
              <a:rPr lang="zh-CN" altLang="en-US" smtClean="0"/>
              <a:t>2026/7/29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6DCEC5-53EF-F3D2-9873-C393C5C0D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FB0C1C-956E-D1EE-8E32-4A076CCAE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2DED7-BEDD-409B-B9A8-6F8A93D48B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1500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15C7E2-C581-8CB5-0C0D-7888D4637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56D44E-E01F-887D-D35C-35E84B9062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BD27AA-E51A-C47A-B526-44F4E44C2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7B075-1BF0-44E4-B60F-78264AFE22DA}" type="datetimeFigureOut">
              <a:rPr lang="zh-CN" altLang="en-US" smtClean="0"/>
              <a:t>2026/7/29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41FFC2-18A0-9601-F82C-ED262721E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EE82F9-751F-B39E-9C64-654BD15B1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2DED7-BEDD-409B-B9A8-6F8A93D48B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5280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CE21DA-813C-4F53-73D2-888CC3989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B6B397B-9E49-4A8F-014B-2C2B60D65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DA45402-C88D-D9E3-EC4B-EFA50DCF6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7B075-1BF0-44E4-B60F-78264AFE22DA}" type="datetimeFigureOut">
              <a:rPr lang="zh-CN" altLang="en-US" smtClean="0"/>
              <a:t>2026/7/29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89BAA3-9829-39B7-E48E-3E517E6B5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F47559-EF96-69B8-6EEB-24BDDC1CB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2DED7-BEDD-409B-B9A8-6F8A93D48B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1518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1F9774-8D38-2BD3-D463-0722ABCA9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151D8C-C05E-9B89-7DF1-BF2D289480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49BF16C-73D4-7A4E-6E58-7935C7A8C3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3FD48CB-A0AA-A6F0-13F0-8EED5BF51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7B075-1BF0-44E4-B60F-78264AFE22DA}" type="datetimeFigureOut">
              <a:rPr lang="zh-CN" altLang="en-US" smtClean="0"/>
              <a:t>2026/7/29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786C16E-5797-42E8-042A-FD8BC627F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EA3FAF8-D0DD-41AC-C5B9-96FDD3886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2DED7-BEDD-409B-B9A8-6F8A93D48B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7063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6D1603-A66F-7E94-5D7D-8B9FDB165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6517DE5-E432-11CE-ED67-92D154767A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4C7E5D1-F0FD-6B67-38EB-8EBF25C4C6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24AC0EF-A5E0-782E-F3A1-59F2487C4F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53DA3A4-3CEC-CBAB-AA17-2562A97C55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8D6DB8A-E8AF-B107-FEF1-6CCAA57B5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7B075-1BF0-44E4-B60F-78264AFE22DA}" type="datetimeFigureOut">
              <a:rPr lang="zh-CN" altLang="en-US" smtClean="0"/>
              <a:t>2026/7/29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877C034-9DCD-84CB-4130-42D124BB6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884B470-75E4-0CFD-E8F0-904C7118A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2DED7-BEDD-409B-B9A8-6F8A93D48B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1045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63FC96-C2BE-AFA9-4036-FBD2890B3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9C1C04A-FFFC-8EF7-A76C-0640E260A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7B075-1BF0-44E4-B60F-78264AFE22DA}" type="datetimeFigureOut">
              <a:rPr lang="zh-CN" altLang="en-US" smtClean="0"/>
              <a:t>2026/7/29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D1D6DCF-CC6D-247E-3E9C-2E84DE748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F3A14B2-33E4-5717-05CA-0214B5187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2DED7-BEDD-409B-B9A8-6F8A93D48B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4426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7B45003-099D-074F-CC09-9BACE99DF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7B075-1BF0-44E4-B60F-78264AFE22DA}" type="datetimeFigureOut">
              <a:rPr lang="zh-CN" altLang="en-US" smtClean="0"/>
              <a:t>2026/7/29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97A7271-FBBA-218C-0449-8DFC8674D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F97BCA7-ED44-FC16-A7D2-01CB20461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2DED7-BEDD-409B-B9A8-6F8A93D48B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9512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C8CDC7-D424-3989-2039-A6B9F751C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A83DF6-1C15-2393-3E0B-46BEDA5C2C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7D69E7D-1DAA-D2EE-80B6-913FB7E0C9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48E271C-2273-BA3D-216A-F64E13D25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7B075-1BF0-44E4-B60F-78264AFE22DA}" type="datetimeFigureOut">
              <a:rPr lang="zh-CN" altLang="en-US" smtClean="0"/>
              <a:t>2026/7/29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AFEDB51-33C5-87EF-EE3F-9D594EB8E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C90017B-55FE-E999-1E11-032C85A63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2DED7-BEDD-409B-B9A8-6F8A93D48B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253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8201CC-7595-BB36-BDA9-56E7A35BD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07DFD29-0610-F43B-4A46-C50568C6A7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54D995E-CED3-1D01-BCD5-7D6B1542CC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EA5C136-C0D6-B0B6-6248-1F0128409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7B075-1BF0-44E4-B60F-78264AFE22DA}" type="datetimeFigureOut">
              <a:rPr lang="zh-CN" altLang="en-US" smtClean="0"/>
              <a:t>2026/7/29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A6799E3-7591-14FC-5C2A-946AD1CB0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4E6EB29-EAD3-80F9-7ACB-1F57FA6A1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2DED7-BEDD-409B-B9A8-6F8A93D48B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0970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4E40A-AE17-C928-A0B3-77FEF283C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66550FE-663E-A596-476A-A1D1AC5FDA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8473DE-A768-1DA3-5F53-F3B632865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7B075-1BF0-44E4-B60F-78264AFE22DA}" type="datetimeFigureOut">
              <a:rPr lang="zh-CN" altLang="en-US" smtClean="0"/>
              <a:t>2026/7/29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8DC230-F5CD-0748-EF3E-97281904D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9E7F5F-610E-CC0A-F2F1-BFC44A7B4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2DED7-BEDD-409B-B9A8-6F8A93D48B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7020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A8A422E-8175-2C0D-5108-3D2D470E68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5D0039F-046C-86E0-F1A3-97AB3641F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BC7D2A-1456-27A8-306E-D53190D7B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7B075-1BF0-44E4-B60F-78264AFE22DA}" type="datetimeFigureOut">
              <a:rPr lang="zh-CN" altLang="en-US" smtClean="0"/>
              <a:t>2026/7/29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09CBB5D-6591-3F24-4205-8257036EB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80E004-23B6-5FEA-A57B-02EA375A4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2DED7-BEDD-409B-B9A8-6F8A93D48B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9586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3DC5AC1-5AFD-CB76-CC9F-D9759F05C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DD99AC8-483C-F583-B9B0-D2AC792DB9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E2EA598-74FA-3E4F-0945-15587BACC7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27B075-1BF0-44E4-B60F-78264AFE22DA}" type="datetimeFigureOut">
              <a:rPr lang="zh-CN" altLang="en-US" smtClean="0"/>
              <a:t>2026/7/29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0788EAC-C969-3AB7-7579-0BA5F18C3D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64DAB5-1381-E254-1DF4-C6CA34D717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72DED7-BEDD-409B-B9A8-6F8A93D48B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5464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slideLayout" Target="../slideLayouts/slideLayout7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WDQS evidence archite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76771B88-F74B-62E2-D32B-CA298ABA5690}"/>
              </a:ext>
            </a:extLst>
          </p:cNvPr>
          <p:cNvSpPr txBox="1"/>
          <p:nvPr/>
        </p:nvSpPr>
        <p:spPr>
          <a:xfrm>
            <a:off x="508000" y="228600"/>
            <a:ext cx="11176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altLang="zh-CN" sz="1900" b="1">
                <a:solidFill>
                  <a:srgbClr val="272727"/>
                </a:solidFill>
                <a:latin typeface="Arial" panose="020B0604020202020204" pitchFamily="34" charset="0"/>
              </a:rPr>
              <a:t>Evidence architecture and claim boundary</a:t>
            </a:r>
            <a:endParaRPr lang="zh-CN" altLang="en-US" sz="1900" b="1">
              <a:solidFill>
                <a:srgbClr val="272727"/>
              </a:solidFill>
              <a:latin typeface="Arial" panose="020B0604020202020204" pitchFamily="34" charset="0"/>
            </a:endParaRPr>
          </a:p>
        </p:txBody>
      </p:sp>
      <p:sp>
        <p:nvSpPr>
          <p:cNvPr id="3" name="input_raw">
            <a:extLst>
              <a:ext uri="{FF2B5EF4-FFF2-40B4-BE49-F238E27FC236}">
                <a16:creationId xmlns:a16="http://schemas.microsoft.com/office/drawing/2014/main" id="{1629ABA5-ED65-3356-F79B-0518D4B3264A}"/>
              </a:ext>
            </a:extLst>
          </p:cNvPr>
          <p:cNvSpPr/>
          <p:nvPr/>
        </p:nvSpPr>
        <p:spPr>
          <a:xfrm>
            <a:off x="508000" y="1066800"/>
            <a:ext cx="1549400" cy="889000"/>
          </a:xfrm>
          <a:prstGeom prst="roundRect">
            <a:avLst/>
          </a:prstGeom>
          <a:solidFill>
            <a:srgbClr val="E8EDF5"/>
          </a:solidFill>
          <a:ln w="12700">
            <a:solidFill>
              <a:srgbClr val="4D4D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>
            <a:normAutofit/>
          </a:bodyPr>
          <a:lstStyle/>
          <a:p>
            <a:pPr algn="ctr"/>
            <a:r>
              <a:rPr lang="en-US" altLang="zh-CN" sz="1100" b="1">
                <a:solidFill>
                  <a:srgbClr val="272727"/>
                </a:solidFill>
                <a:latin typeface="Arial" panose="020B0604020202020204" pitchFamily="34" charset="0"/>
              </a:rPr>
              <a:t>1-min DO/ORP
measurements</a:t>
            </a:r>
            <a:endParaRPr lang="zh-CN" altLang="en-US" sz="1100" b="1">
              <a:solidFill>
                <a:srgbClr val="272727"/>
              </a:solidFill>
              <a:latin typeface="Arial" panose="020B0604020202020204" pitchFamily="34" charset="0"/>
            </a:endParaRPr>
          </a:p>
        </p:txBody>
      </p:sp>
      <p:sp>
        <p:nvSpPr>
          <p:cNvPr id="4" name="temporal_base">
            <a:extLst>
              <a:ext uri="{FF2B5EF4-FFF2-40B4-BE49-F238E27FC236}">
                <a16:creationId xmlns:a16="http://schemas.microsoft.com/office/drawing/2014/main" id="{CB16B7AC-AB15-B92D-5316-4718EEEFA2D2}"/>
              </a:ext>
            </a:extLst>
          </p:cNvPr>
          <p:cNvSpPr/>
          <p:nvPr/>
        </p:nvSpPr>
        <p:spPr>
          <a:xfrm>
            <a:off x="2540000" y="965200"/>
            <a:ext cx="1803400" cy="1092200"/>
          </a:xfrm>
          <a:prstGeom prst="roundRect">
            <a:avLst/>
          </a:prstGeom>
          <a:solidFill>
            <a:srgbClr val="D7E4F2"/>
          </a:solidFill>
          <a:ln w="12700">
            <a:solidFill>
              <a:srgbClr val="4D4D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>
            <a:normAutofit/>
          </a:bodyPr>
          <a:lstStyle/>
          <a:p>
            <a:pPr algn="ctr"/>
            <a:r>
              <a:rPr lang="en-US" altLang="zh-CN" sz="1100" b="1">
                <a:solidFill>
                  <a:srgbClr val="272727"/>
                </a:solidFill>
                <a:latin typeface="Arial" panose="020B0604020202020204" pitchFamily="34" charset="0"/>
              </a:rPr>
              <a:t>1.1 causal multiscale
transform
(frozen in validation)</a:t>
            </a:r>
            <a:endParaRPr lang="zh-CN" altLang="en-US" sz="1100" b="1">
              <a:solidFill>
                <a:srgbClr val="272727"/>
              </a:solidFill>
              <a:latin typeface="Arial" panose="020B0604020202020204" pitchFamily="34" charset="0"/>
            </a:endParaRPr>
          </a:p>
        </p:txBody>
      </p:sp>
      <p:cxnSp>
        <p:nvCxnSpPr>
          <p:cNvPr id="5" name="flow_input_to_base">
            <a:extLst>
              <a:ext uri="{FF2B5EF4-FFF2-40B4-BE49-F238E27FC236}">
                <a16:creationId xmlns:a16="http://schemas.microsoft.com/office/drawing/2014/main" id="{88C10945-FA2E-73AE-36EA-24EF8E93938C}"/>
              </a:ext>
            </a:extLst>
          </p:cNvPr>
          <p:cNvCxnSpPr/>
          <p:nvPr>
            <p:custDataLst>
              <p:tags r:id="rId1"/>
            </p:custDataLst>
          </p:nvPr>
        </p:nvCxnSpPr>
        <p:spPr>
          <a:xfrm>
            <a:off x="2057400" y="1511300"/>
            <a:ext cx="463550" cy="0"/>
          </a:xfrm>
          <a:prstGeom prst="line">
            <a:avLst/>
          </a:prstGeom>
          <a:ln w="15240">
            <a:solidFill>
              <a:srgbClr val="767676"/>
            </a:solidFill>
            <a:prstDash val="solid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imension_D1">
            <a:extLst>
              <a:ext uri="{FF2B5EF4-FFF2-40B4-BE49-F238E27FC236}">
                <a16:creationId xmlns:a16="http://schemas.microsoft.com/office/drawing/2014/main" id="{220E1B42-73C1-9BD9-B9B1-FDC14EE53FE7}"/>
              </a:ext>
            </a:extLst>
          </p:cNvPr>
          <p:cNvSpPr/>
          <p:nvPr/>
        </p:nvSpPr>
        <p:spPr>
          <a:xfrm>
            <a:off x="4800600" y="812800"/>
            <a:ext cx="1193800" cy="1168400"/>
          </a:xfrm>
          <a:prstGeom prst="roundRect">
            <a:avLst/>
          </a:prstGeom>
          <a:solidFill>
            <a:srgbClr val="DDE8F4"/>
          </a:solidFill>
          <a:ln w="12700">
            <a:solidFill>
              <a:srgbClr val="4D4D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>
            <a:normAutofit/>
          </a:bodyPr>
          <a:lstStyle/>
          <a:p>
            <a:pPr algn="ctr"/>
            <a:r>
              <a:rPr lang="en-US" altLang="zh-CN" sz="1100" b="1">
                <a:solidFill>
                  <a:srgbClr val="272727"/>
                </a:solidFill>
                <a:latin typeface="Arial" panose="020B0604020202020204" pitchFamily="34" charset="0"/>
              </a:rPr>
              <a:t>D1
Sensor
health</a:t>
            </a:r>
            <a:endParaRPr lang="zh-CN" altLang="en-US" sz="1100" b="1">
              <a:solidFill>
                <a:srgbClr val="272727"/>
              </a:solidFill>
              <a:latin typeface="Arial" panose="020B0604020202020204" pitchFamily="34" charset="0"/>
            </a:endParaRPr>
          </a:p>
        </p:txBody>
      </p:sp>
      <p:sp>
        <p:nvSpPr>
          <p:cNvPr id="7" name="dimension_D2">
            <a:extLst>
              <a:ext uri="{FF2B5EF4-FFF2-40B4-BE49-F238E27FC236}">
                <a16:creationId xmlns:a16="http://schemas.microsoft.com/office/drawing/2014/main" id="{33F6C3B6-E106-3E32-2C18-D2E43A80C248}"/>
              </a:ext>
            </a:extLst>
          </p:cNvPr>
          <p:cNvSpPr/>
          <p:nvPr/>
        </p:nvSpPr>
        <p:spPr>
          <a:xfrm>
            <a:off x="6197600" y="812800"/>
            <a:ext cx="1193800" cy="1168400"/>
          </a:xfrm>
          <a:prstGeom prst="roundRect">
            <a:avLst/>
          </a:prstGeom>
          <a:solidFill>
            <a:srgbClr val="DDE8F4"/>
          </a:solidFill>
          <a:ln w="12700">
            <a:solidFill>
              <a:srgbClr val="4D4D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>
            <a:normAutofit/>
          </a:bodyPr>
          <a:lstStyle/>
          <a:p>
            <a:pPr algn="ctr"/>
            <a:r>
              <a:rPr lang="en-US" altLang="zh-CN" sz="1100" b="1">
                <a:solidFill>
                  <a:srgbClr val="272727"/>
                </a:solidFill>
                <a:latin typeface="Arial" panose="020B0604020202020204" pitchFamily="34" charset="0"/>
              </a:rPr>
              <a:t>D2
Continuity &amp;
availability</a:t>
            </a:r>
            <a:endParaRPr lang="zh-CN" altLang="en-US" sz="1100" b="1">
              <a:solidFill>
                <a:srgbClr val="272727"/>
              </a:solidFill>
              <a:latin typeface="Arial" panose="020B0604020202020204" pitchFamily="34" charset="0"/>
            </a:endParaRPr>
          </a:p>
        </p:txBody>
      </p:sp>
      <p:sp>
        <p:nvSpPr>
          <p:cNvPr id="8" name="dimension_D5">
            <a:extLst>
              <a:ext uri="{FF2B5EF4-FFF2-40B4-BE49-F238E27FC236}">
                <a16:creationId xmlns:a16="http://schemas.microsoft.com/office/drawing/2014/main" id="{E7B65F95-ED65-BDB1-C5DA-FDB10C39DAB8}"/>
              </a:ext>
            </a:extLst>
          </p:cNvPr>
          <p:cNvSpPr/>
          <p:nvPr/>
        </p:nvSpPr>
        <p:spPr>
          <a:xfrm>
            <a:off x="7594600" y="812800"/>
            <a:ext cx="1193800" cy="1168400"/>
          </a:xfrm>
          <a:prstGeom prst="roundRect">
            <a:avLst/>
          </a:prstGeom>
          <a:solidFill>
            <a:srgbClr val="DDE8F4"/>
          </a:solidFill>
          <a:ln w="12700">
            <a:solidFill>
              <a:srgbClr val="4D4D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>
            <a:normAutofit/>
          </a:bodyPr>
          <a:lstStyle/>
          <a:p>
            <a:pPr algn="ctr"/>
            <a:r>
              <a:rPr lang="en-US" altLang="zh-CN" sz="1100" b="1">
                <a:solidFill>
                  <a:srgbClr val="272727"/>
                </a:solidFill>
                <a:latin typeface="Arial" panose="020B0604020202020204" pitchFamily="34" charset="0"/>
              </a:rPr>
              <a:t>D5
Topological
structure</a:t>
            </a:r>
            <a:endParaRPr lang="zh-CN" altLang="en-US" sz="1100" b="1">
              <a:solidFill>
                <a:srgbClr val="272727"/>
              </a:solidFill>
              <a:latin typeface="Arial" panose="020B0604020202020204" pitchFamily="34" charset="0"/>
            </a:endParaRPr>
          </a:p>
        </p:txBody>
      </p:sp>
      <p:sp>
        <p:nvSpPr>
          <p:cNvPr id="9" name="dimension_D4">
            <a:extLst>
              <a:ext uri="{FF2B5EF4-FFF2-40B4-BE49-F238E27FC236}">
                <a16:creationId xmlns:a16="http://schemas.microsoft.com/office/drawing/2014/main" id="{B4EB1C4B-1C82-7A10-174B-39E14D638194}"/>
              </a:ext>
            </a:extLst>
          </p:cNvPr>
          <p:cNvSpPr/>
          <p:nvPr/>
        </p:nvSpPr>
        <p:spPr>
          <a:xfrm>
            <a:off x="8991600" y="812800"/>
            <a:ext cx="1193800" cy="1168400"/>
          </a:xfrm>
          <a:prstGeom prst="roundRect">
            <a:avLst/>
          </a:prstGeom>
          <a:solidFill>
            <a:srgbClr val="DDE8F4"/>
          </a:solidFill>
          <a:ln w="12700">
            <a:solidFill>
              <a:srgbClr val="4D4D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>
            <a:normAutofit/>
          </a:bodyPr>
          <a:lstStyle/>
          <a:p>
            <a:pPr algn="ctr"/>
            <a:r>
              <a:rPr lang="en-US" altLang="zh-CN" sz="1100" b="1">
                <a:solidFill>
                  <a:srgbClr val="272727"/>
                </a:solidFill>
                <a:latin typeface="Arial" panose="020B0604020202020204" pitchFamily="34" charset="0"/>
              </a:rPr>
              <a:t>D4
Pair temporal
consistency</a:t>
            </a:r>
            <a:endParaRPr lang="zh-CN" altLang="en-US" sz="1100" b="1">
              <a:solidFill>
                <a:srgbClr val="272727"/>
              </a:solidFill>
              <a:latin typeface="Arial" panose="020B0604020202020204" pitchFamily="34" charset="0"/>
            </a:endParaRPr>
          </a:p>
        </p:txBody>
      </p:sp>
      <p:sp>
        <p:nvSpPr>
          <p:cNvPr id="10" name="dimension_D3">
            <a:extLst>
              <a:ext uri="{FF2B5EF4-FFF2-40B4-BE49-F238E27FC236}">
                <a16:creationId xmlns:a16="http://schemas.microsoft.com/office/drawing/2014/main" id="{67F6799A-F39A-286A-F791-3DAA4E17E6C6}"/>
              </a:ext>
            </a:extLst>
          </p:cNvPr>
          <p:cNvSpPr/>
          <p:nvPr/>
        </p:nvSpPr>
        <p:spPr>
          <a:xfrm>
            <a:off x="10388600" y="812800"/>
            <a:ext cx="1193800" cy="1168400"/>
          </a:xfrm>
          <a:prstGeom prst="roundRect">
            <a:avLst/>
          </a:prstGeom>
          <a:solidFill>
            <a:srgbClr val="F6E3B7"/>
          </a:solidFill>
          <a:ln w="12700">
            <a:solidFill>
              <a:srgbClr val="4D4D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>
            <a:normAutofit/>
          </a:bodyPr>
          <a:lstStyle/>
          <a:p>
            <a:pPr algn="ctr"/>
            <a:r>
              <a:rPr lang="en-US" altLang="zh-CN" sz="1100" b="1">
                <a:solidFill>
                  <a:srgbClr val="272727"/>
                </a:solidFill>
                <a:latin typeface="Arial" panose="020B0604020202020204" pitchFamily="34" charset="0"/>
              </a:rPr>
              <a:t>D3
Independent
Safety Gate</a:t>
            </a:r>
            <a:endParaRPr lang="zh-CN" altLang="en-US" sz="1100" b="1">
              <a:solidFill>
                <a:srgbClr val="272727"/>
              </a:solidFill>
              <a:latin typeface="Arial" panose="020B0604020202020204" pitchFamily="34" charset="0"/>
            </a:endParaRPr>
          </a:p>
        </p:txBody>
      </p:sp>
      <p:cxnSp>
        <p:nvCxnSpPr>
          <p:cNvPr id="11" name="flow_base_to_bus">
            <a:extLst>
              <a:ext uri="{FF2B5EF4-FFF2-40B4-BE49-F238E27FC236}">
                <a16:creationId xmlns:a16="http://schemas.microsoft.com/office/drawing/2014/main" id="{C83D124C-9089-0670-ED99-342577B69585}"/>
              </a:ext>
            </a:extLst>
          </p:cNvPr>
          <p:cNvCxnSpPr/>
          <p:nvPr>
            <p:custDataLst>
              <p:tags r:id="rId2"/>
            </p:custDataLst>
          </p:nvPr>
        </p:nvCxnSpPr>
        <p:spPr>
          <a:xfrm>
            <a:off x="4343400" y="1511300"/>
            <a:ext cx="209550" cy="0"/>
          </a:xfrm>
          <a:prstGeom prst="line">
            <a:avLst/>
          </a:prstGeom>
          <a:ln w="12700">
            <a:solidFill>
              <a:srgbClr val="7884B4"/>
            </a:solidFill>
            <a:prstDash val="solid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flow_bus_vertical">
            <a:extLst>
              <a:ext uri="{FF2B5EF4-FFF2-40B4-BE49-F238E27FC236}">
                <a16:creationId xmlns:a16="http://schemas.microsoft.com/office/drawing/2014/main" id="{A66D515F-B2AD-4B5E-2604-727B5860509E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 flipV="1">
            <a:off x="4572000" y="628650"/>
            <a:ext cx="0" cy="882650"/>
          </a:xfrm>
          <a:prstGeom prst="line">
            <a:avLst/>
          </a:prstGeom>
          <a:ln w="12700">
            <a:solidFill>
              <a:srgbClr val="7884B4"/>
            </a:solidFill>
            <a:prstDash val="solid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flow_bus_horizontal">
            <a:extLst>
              <a:ext uri="{FF2B5EF4-FFF2-40B4-BE49-F238E27FC236}">
                <a16:creationId xmlns:a16="http://schemas.microsoft.com/office/drawing/2014/main" id="{45D3AD93-A225-46B3-8182-78FF1CAD4C5B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4572000" y="609600"/>
            <a:ext cx="6394450" cy="0"/>
          </a:xfrm>
          <a:prstGeom prst="line">
            <a:avLst/>
          </a:prstGeom>
          <a:ln w="12700">
            <a:solidFill>
              <a:srgbClr val="7884B4"/>
            </a:solidFill>
            <a:prstDash val="solid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flow_bus_to_D1">
            <a:extLst>
              <a:ext uri="{FF2B5EF4-FFF2-40B4-BE49-F238E27FC236}">
                <a16:creationId xmlns:a16="http://schemas.microsoft.com/office/drawing/2014/main" id="{99248B06-2960-EF92-9DB7-CFADB5DD7F3D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397500" y="609600"/>
            <a:ext cx="0" cy="184150"/>
          </a:xfrm>
          <a:prstGeom prst="line">
            <a:avLst/>
          </a:prstGeom>
          <a:ln w="12700">
            <a:solidFill>
              <a:srgbClr val="7884B4"/>
            </a:solidFill>
            <a:prstDash val="solid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flow_bus_to_D2">
            <a:extLst>
              <a:ext uri="{FF2B5EF4-FFF2-40B4-BE49-F238E27FC236}">
                <a16:creationId xmlns:a16="http://schemas.microsoft.com/office/drawing/2014/main" id="{9FF0FD3D-8367-58F9-3562-FB8DAC9519A3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6794500" y="609600"/>
            <a:ext cx="0" cy="184150"/>
          </a:xfrm>
          <a:prstGeom prst="line">
            <a:avLst/>
          </a:prstGeom>
          <a:ln w="12700">
            <a:solidFill>
              <a:srgbClr val="7884B4"/>
            </a:solidFill>
            <a:prstDash val="solid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flow_bus_to_D5">
            <a:extLst>
              <a:ext uri="{FF2B5EF4-FFF2-40B4-BE49-F238E27FC236}">
                <a16:creationId xmlns:a16="http://schemas.microsoft.com/office/drawing/2014/main" id="{695576B2-9045-B853-720B-F56D19927D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8191500" y="609600"/>
            <a:ext cx="0" cy="184150"/>
          </a:xfrm>
          <a:prstGeom prst="line">
            <a:avLst/>
          </a:prstGeom>
          <a:ln w="12700">
            <a:solidFill>
              <a:srgbClr val="7884B4"/>
            </a:solidFill>
            <a:prstDash val="solid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flow_bus_to_D4">
            <a:extLst>
              <a:ext uri="{FF2B5EF4-FFF2-40B4-BE49-F238E27FC236}">
                <a16:creationId xmlns:a16="http://schemas.microsoft.com/office/drawing/2014/main" id="{20BD6BBC-DF9D-8789-C83A-7CA53A77938C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9588500" y="609600"/>
            <a:ext cx="0" cy="184150"/>
          </a:xfrm>
          <a:prstGeom prst="line">
            <a:avLst/>
          </a:prstGeom>
          <a:ln w="12700">
            <a:solidFill>
              <a:srgbClr val="7884B4"/>
            </a:solidFill>
            <a:prstDash val="solid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flow_bus_to_D3">
            <a:extLst>
              <a:ext uri="{FF2B5EF4-FFF2-40B4-BE49-F238E27FC236}">
                <a16:creationId xmlns:a16="http://schemas.microsoft.com/office/drawing/2014/main" id="{E63B3191-66D4-7944-43DA-9A40E366DF87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10985500" y="609600"/>
            <a:ext cx="0" cy="184150"/>
          </a:xfrm>
          <a:prstGeom prst="line">
            <a:avLst/>
          </a:prstGeom>
          <a:ln w="12700">
            <a:solidFill>
              <a:srgbClr val="C89B3C"/>
            </a:solidFill>
            <a:prstDash val="solid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node_product">
            <a:extLst>
              <a:ext uri="{FF2B5EF4-FFF2-40B4-BE49-F238E27FC236}">
                <a16:creationId xmlns:a16="http://schemas.microsoft.com/office/drawing/2014/main" id="{D4E5F6F5-4EDC-BCE1-42C0-9395852676D7}"/>
              </a:ext>
            </a:extLst>
          </p:cNvPr>
          <p:cNvSpPr/>
          <p:nvPr/>
        </p:nvSpPr>
        <p:spPr>
          <a:xfrm>
            <a:off x="5283200" y="2971800"/>
            <a:ext cx="2463800" cy="1168400"/>
          </a:xfrm>
          <a:prstGeom prst="roundRect">
            <a:avLst/>
          </a:prstGeom>
          <a:solidFill>
            <a:srgbClr val="E8D9E2"/>
          </a:solidFill>
          <a:ln w="12700">
            <a:solidFill>
              <a:srgbClr val="4D4D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>
            <a:normAutofit/>
          </a:bodyPr>
          <a:lstStyle/>
          <a:p>
            <a:pPr algn="ctr"/>
            <a:r>
              <a:rPr lang="en-US" altLang="zh-CN" sz="1100" b="1">
                <a:solidFill>
                  <a:srgbClr val="272727"/>
                </a:solidFill>
                <a:latin typeface="Arial" panose="020B0604020202020204" pitchFamily="34" charset="0"/>
              </a:rPr>
              <a:t>Node product
D1 + D2 + D5
Full / Basic separate</a:t>
            </a:r>
            <a:endParaRPr lang="zh-CN" altLang="en-US" sz="1100" b="1">
              <a:solidFill>
                <a:srgbClr val="272727"/>
              </a:solidFill>
              <a:latin typeface="Arial" panose="020B0604020202020204" pitchFamily="34" charset="0"/>
            </a:endParaRPr>
          </a:p>
        </p:txBody>
      </p:sp>
      <p:sp>
        <p:nvSpPr>
          <p:cNvPr id="20" name="pair_product">
            <a:extLst>
              <a:ext uri="{FF2B5EF4-FFF2-40B4-BE49-F238E27FC236}">
                <a16:creationId xmlns:a16="http://schemas.microsoft.com/office/drawing/2014/main" id="{BE0DB04A-690C-E0C0-C50A-C7F8DAD2EADB}"/>
              </a:ext>
            </a:extLst>
          </p:cNvPr>
          <p:cNvSpPr/>
          <p:nvPr/>
        </p:nvSpPr>
        <p:spPr>
          <a:xfrm>
            <a:off x="8610600" y="2971800"/>
            <a:ext cx="2463800" cy="1168400"/>
          </a:xfrm>
          <a:prstGeom prst="roundRect">
            <a:avLst/>
          </a:prstGeom>
          <a:solidFill>
            <a:srgbClr val="E8D9E2"/>
          </a:solidFill>
          <a:ln w="12700">
            <a:solidFill>
              <a:srgbClr val="4D4D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>
            <a:normAutofit/>
          </a:bodyPr>
          <a:lstStyle/>
          <a:p>
            <a:pPr algn="ctr"/>
            <a:r>
              <a:rPr lang="en-US" altLang="zh-CN" sz="1100" b="1">
                <a:solidFill>
                  <a:srgbClr val="272727"/>
                </a:solidFill>
                <a:latin typeface="Arial" panose="020B0604020202020204" pitchFamily="34" charset="0"/>
              </a:rPr>
              <a:t>Pair product
Target node + peer node
+ independent D4_raw</a:t>
            </a:r>
            <a:endParaRPr lang="zh-CN" altLang="en-US" sz="1100" b="1">
              <a:solidFill>
                <a:srgbClr val="272727"/>
              </a:solidFill>
              <a:latin typeface="Arial" panose="020B0604020202020204" pitchFamily="34" charset="0"/>
            </a:endParaRPr>
          </a:p>
        </p:txBody>
      </p:sp>
      <p:cxnSp>
        <p:nvCxnSpPr>
          <p:cNvPr id="21" name="node_bus_drop_425">
            <a:extLst>
              <a:ext uri="{FF2B5EF4-FFF2-40B4-BE49-F238E27FC236}">
                <a16:creationId xmlns:a16="http://schemas.microsoft.com/office/drawing/2014/main" id="{D4ED948C-ECFB-5CC6-C097-8CD8ECDB2DC6}"/>
              </a:ext>
            </a:extLst>
          </p:cNvPr>
          <p:cNvCxnSpPr/>
          <p:nvPr>
            <p:custDataLst>
              <p:tags r:id="rId10"/>
            </p:custDataLst>
          </p:nvPr>
        </p:nvCxnSpPr>
        <p:spPr>
          <a:xfrm>
            <a:off x="5397500" y="1981200"/>
            <a:ext cx="0" cy="336550"/>
          </a:xfrm>
          <a:prstGeom prst="line">
            <a:avLst/>
          </a:prstGeom>
          <a:ln w="15240">
            <a:solidFill>
              <a:srgbClr val="767676"/>
            </a:solidFill>
            <a:prstDash val="solid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node_bus_drop_535">
            <a:extLst>
              <a:ext uri="{FF2B5EF4-FFF2-40B4-BE49-F238E27FC236}">
                <a16:creationId xmlns:a16="http://schemas.microsoft.com/office/drawing/2014/main" id="{46A9074C-3B44-DAC6-114F-3D9028842233}"/>
              </a:ext>
            </a:extLst>
          </p:cNvPr>
          <p:cNvCxnSpPr/>
          <p:nvPr>
            <p:custDataLst>
              <p:tags r:id="rId11"/>
            </p:custDataLst>
          </p:nvPr>
        </p:nvCxnSpPr>
        <p:spPr>
          <a:xfrm>
            <a:off x="6794500" y="1981200"/>
            <a:ext cx="0" cy="336550"/>
          </a:xfrm>
          <a:prstGeom prst="line">
            <a:avLst/>
          </a:prstGeom>
          <a:ln w="15240">
            <a:solidFill>
              <a:srgbClr val="767676"/>
            </a:solidFill>
            <a:prstDash val="solid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node_bus_drop_645">
            <a:extLst>
              <a:ext uri="{FF2B5EF4-FFF2-40B4-BE49-F238E27FC236}">
                <a16:creationId xmlns:a16="http://schemas.microsoft.com/office/drawing/2014/main" id="{A2FEF512-2AB5-1184-CD6F-9B094345D8E7}"/>
              </a:ext>
            </a:extLst>
          </p:cNvPr>
          <p:cNvCxnSpPr/>
          <p:nvPr>
            <p:custDataLst>
              <p:tags r:id="rId12"/>
            </p:custDataLst>
          </p:nvPr>
        </p:nvCxnSpPr>
        <p:spPr>
          <a:xfrm>
            <a:off x="8191500" y="1981200"/>
            <a:ext cx="0" cy="336550"/>
          </a:xfrm>
          <a:prstGeom prst="line">
            <a:avLst/>
          </a:prstGeom>
          <a:ln w="15240">
            <a:solidFill>
              <a:srgbClr val="767676"/>
            </a:solidFill>
            <a:prstDash val="solid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node_evidence_bus">
            <a:extLst>
              <a:ext uri="{FF2B5EF4-FFF2-40B4-BE49-F238E27FC236}">
                <a16:creationId xmlns:a16="http://schemas.microsoft.com/office/drawing/2014/main" id="{D00E2CDB-8800-21E9-4F30-FC3EE01A758A}"/>
              </a:ext>
            </a:extLst>
          </p:cNvPr>
          <p:cNvCxnSpPr/>
          <p:nvPr>
            <p:custDataLst>
              <p:tags r:id="rId13"/>
            </p:custDataLst>
          </p:nvPr>
        </p:nvCxnSpPr>
        <p:spPr>
          <a:xfrm>
            <a:off x="5397500" y="2336800"/>
            <a:ext cx="2774950" cy="0"/>
          </a:xfrm>
          <a:prstGeom prst="line">
            <a:avLst/>
          </a:prstGeom>
          <a:ln w="15240">
            <a:solidFill>
              <a:srgbClr val="767676"/>
            </a:solidFill>
            <a:prstDash val="solid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node_bus_to_product">
            <a:extLst>
              <a:ext uri="{FF2B5EF4-FFF2-40B4-BE49-F238E27FC236}">
                <a16:creationId xmlns:a16="http://schemas.microsoft.com/office/drawing/2014/main" id="{0BF45497-68FA-1C47-4F8B-6B6C02390167}"/>
              </a:ext>
            </a:extLst>
          </p:cNvPr>
          <p:cNvCxnSpPr/>
          <p:nvPr>
            <p:custDataLst>
              <p:tags r:id="rId14"/>
            </p:custDataLst>
          </p:nvPr>
        </p:nvCxnSpPr>
        <p:spPr>
          <a:xfrm>
            <a:off x="6515100" y="2336800"/>
            <a:ext cx="0" cy="615950"/>
          </a:xfrm>
          <a:prstGeom prst="line">
            <a:avLst/>
          </a:prstGeom>
          <a:ln w="15240">
            <a:solidFill>
              <a:srgbClr val="767676"/>
            </a:solidFill>
            <a:prstDash val="solid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pair_d4">
            <a:extLst>
              <a:ext uri="{FF2B5EF4-FFF2-40B4-BE49-F238E27FC236}">
                <a16:creationId xmlns:a16="http://schemas.microsoft.com/office/drawing/2014/main" id="{A60BB268-D0EC-CDF3-3F90-5F606DB7BF42}"/>
              </a:ext>
            </a:extLst>
          </p:cNvPr>
          <p:cNvCxnSpPr/>
          <p:nvPr>
            <p:custDataLst>
              <p:tags r:id="rId15"/>
            </p:custDataLst>
          </p:nvPr>
        </p:nvCxnSpPr>
        <p:spPr>
          <a:xfrm>
            <a:off x="9588500" y="1981200"/>
            <a:ext cx="249269" cy="972147"/>
          </a:xfrm>
          <a:prstGeom prst="line">
            <a:avLst/>
          </a:prstGeom>
          <a:ln w="15240">
            <a:solidFill>
              <a:srgbClr val="767676"/>
            </a:solidFill>
            <a:prstDash val="solid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pair_node">
            <a:extLst>
              <a:ext uri="{FF2B5EF4-FFF2-40B4-BE49-F238E27FC236}">
                <a16:creationId xmlns:a16="http://schemas.microsoft.com/office/drawing/2014/main" id="{3E7E73B2-5550-E803-E376-FC92B1ACB494}"/>
              </a:ext>
            </a:extLst>
          </p:cNvPr>
          <p:cNvCxnSpPr/>
          <p:nvPr>
            <p:custDataLst>
              <p:tags r:id="rId16"/>
            </p:custDataLst>
          </p:nvPr>
        </p:nvCxnSpPr>
        <p:spPr>
          <a:xfrm>
            <a:off x="7747000" y="3556000"/>
            <a:ext cx="844550" cy="0"/>
          </a:xfrm>
          <a:prstGeom prst="line">
            <a:avLst/>
          </a:prstGeom>
          <a:ln w="15240">
            <a:solidFill>
              <a:srgbClr val="767676"/>
            </a:solidFill>
            <a:prstDash val="solid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gate_note">
            <a:extLst>
              <a:ext uri="{FF2B5EF4-FFF2-40B4-BE49-F238E27FC236}">
                <a16:creationId xmlns:a16="http://schemas.microsoft.com/office/drawing/2014/main" id="{77261453-2756-EDD2-EF69-1F26A7EB4B3F}"/>
              </a:ext>
            </a:extLst>
          </p:cNvPr>
          <p:cNvSpPr txBox="1"/>
          <p:nvPr/>
        </p:nvSpPr>
        <p:spPr>
          <a:xfrm>
            <a:off x="10261600" y="2171700"/>
            <a:ext cx="1447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ctr"/>
            <a:r>
              <a:rPr lang="en-US" altLang="zh-CN" sz="900" b="1">
                <a:solidFill>
                  <a:srgbClr val="8A671E"/>
                </a:solidFill>
                <a:latin typeface="Arial" panose="020B0604020202020204" pitchFamily="34" charset="0"/>
              </a:rPr>
              <a:t>Applied after scoring;
not averaged</a:t>
            </a:r>
            <a:endParaRPr lang="zh-CN" altLang="en-US" sz="900" b="1">
              <a:solidFill>
                <a:srgbClr val="8A671E"/>
              </a:solidFill>
              <a:latin typeface="Arial" panose="020B0604020202020204" pitchFamily="34" charset="0"/>
            </a:endParaRPr>
          </a:p>
        </p:txBody>
      </p:sp>
      <p:sp>
        <p:nvSpPr>
          <p:cNvPr id="29" name="plant_summary">
            <a:extLst>
              <a:ext uri="{FF2B5EF4-FFF2-40B4-BE49-F238E27FC236}">
                <a16:creationId xmlns:a16="http://schemas.microsoft.com/office/drawing/2014/main" id="{AF59A289-EE1E-C600-D703-C9D51D1DE520}"/>
              </a:ext>
            </a:extLst>
          </p:cNvPr>
          <p:cNvSpPr/>
          <p:nvPr/>
        </p:nvSpPr>
        <p:spPr>
          <a:xfrm>
            <a:off x="6959600" y="4635500"/>
            <a:ext cx="2794000" cy="787400"/>
          </a:xfrm>
          <a:prstGeom prst="roundRect">
            <a:avLst/>
          </a:prstGeom>
          <a:solidFill>
            <a:srgbClr val="E8D9E2"/>
          </a:solidFill>
          <a:ln w="12700">
            <a:solidFill>
              <a:srgbClr val="4D4D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>
            <a:normAutofit/>
          </a:bodyPr>
          <a:lstStyle/>
          <a:p>
            <a:pPr algn="ctr"/>
            <a:r>
              <a:rPr lang="en-US" altLang="zh-CN" sz="1100" b="1">
                <a:solidFill>
                  <a:srgbClr val="272727"/>
                </a:solidFill>
                <a:latin typeface="Arial" panose="020B0604020202020204" pitchFamily="34" charset="0"/>
              </a:rPr>
              <a:t>Plant-level retrospective summary
coverage-stratified; no A-E grades</a:t>
            </a:r>
            <a:endParaRPr lang="zh-CN" altLang="en-US" sz="1100" b="1">
              <a:solidFill>
                <a:srgbClr val="272727"/>
              </a:solidFill>
              <a:latin typeface="Arial" panose="020B0604020202020204" pitchFamily="34" charset="0"/>
            </a:endParaRPr>
          </a:p>
        </p:txBody>
      </p:sp>
      <p:cxnSp>
        <p:nvCxnSpPr>
          <p:cNvPr id="30" name="node_to_plant">
            <a:extLst>
              <a:ext uri="{FF2B5EF4-FFF2-40B4-BE49-F238E27FC236}">
                <a16:creationId xmlns:a16="http://schemas.microsoft.com/office/drawing/2014/main" id="{7DEA5F73-3EA3-E8EF-D874-00FE83F74097}"/>
              </a:ext>
            </a:extLst>
          </p:cNvPr>
          <p:cNvCxnSpPr/>
          <p:nvPr>
            <p:custDataLst>
              <p:tags r:id="rId17"/>
            </p:custDataLst>
          </p:nvPr>
        </p:nvCxnSpPr>
        <p:spPr>
          <a:xfrm>
            <a:off x="6515100" y="4140200"/>
            <a:ext cx="1087517" cy="487507"/>
          </a:xfrm>
          <a:prstGeom prst="line">
            <a:avLst/>
          </a:prstGeom>
          <a:ln w="15240">
            <a:solidFill>
              <a:srgbClr val="767676"/>
            </a:solidFill>
            <a:prstDash val="solid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pair_to_plant">
            <a:extLst>
              <a:ext uri="{FF2B5EF4-FFF2-40B4-BE49-F238E27FC236}">
                <a16:creationId xmlns:a16="http://schemas.microsoft.com/office/drawing/2014/main" id="{B6508444-676B-AC65-20DC-8675B56AE01C}"/>
              </a:ext>
            </a:extLst>
          </p:cNvPr>
          <p:cNvCxnSpPr/>
          <p:nvPr>
            <p:custDataLst>
              <p:tags r:id="rId18"/>
            </p:custDataLst>
          </p:nvPr>
        </p:nvCxnSpPr>
        <p:spPr>
          <a:xfrm flipH="1">
            <a:off x="9109092" y="4140200"/>
            <a:ext cx="733408" cy="484795"/>
          </a:xfrm>
          <a:prstGeom prst="line">
            <a:avLst/>
          </a:prstGeom>
          <a:ln w="15240">
            <a:solidFill>
              <a:srgbClr val="767676"/>
            </a:solidFill>
            <a:prstDash val="solid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laim_supported">
            <a:extLst>
              <a:ext uri="{FF2B5EF4-FFF2-40B4-BE49-F238E27FC236}">
                <a16:creationId xmlns:a16="http://schemas.microsoft.com/office/drawing/2014/main" id="{4860F1BD-3C2C-5160-D7BA-C5F7C2D4548E}"/>
              </a:ext>
            </a:extLst>
          </p:cNvPr>
          <p:cNvSpPr/>
          <p:nvPr/>
        </p:nvSpPr>
        <p:spPr>
          <a:xfrm>
            <a:off x="660400" y="5867400"/>
            <a:ext cx="3429000" cy="609600"/>
          </a:xfrm>
          <a:prstGeom prst="roundRect">
            <a:avLst/>
          </a:prstGeom>
          <a:solidFill>
            <a:srgbClr val="DDECDD"/>
          </a:solidFill>
          <a:ln w="12700">
            <a:solidFill>
              <a:srgbClr val="4D4D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>
            <a:normAutofit/>
          </a:bodyPr>
          <a:lstStyle/>
          <a:p>
            <a:pPr algn="ctr"/>
            <a:r>
              <a:rPr lang="en-US" altLang="zh-CN" sz="950" b="1">
                <a:solidFill>
                  <a:srgbClr val="272727"/>
                </a:solidFill>
                <a:latin typeface="Arial" panose="020B0604020202020204" pitchFamily="34" charset="0"/>
              </a:rPr>
              <a:t>Supported
Within-plant retrospective robustness</a:t>
            </a:r>
            <a:endParaRPr lang="zh-CN" altLang="en-US" sz="950" b="1">
              <a:solidFill>
                <a:srgbClr val="272727"/>
              </a:solidFill>
              <a:latin typeface="Arial" panose="020B0604020202020204" pitchFamily="34" charset="0"/>
            </a:endParaRPr>
          </a:p>
        </p:txBody>
      </p:sp>
      <p:sp>
        <p:nvSpPr>
          <p:cNvPr id="33" name="claim_pending">
            <a:extLst>
              <a:ext uri="{FF2B5EF4-FFF2-40B4-BE49-F238E27FC236}">
                <a16:creationId xmlns:a16="http://schemas.microsoft.com/office/drawing/2014/main" id="{C2B4EEFF-4182-B01E-D35D-AFD7C7AF9099}"/>
              </a:ext>
            </a:extLst>
          </p:cNvPr>
          <p:cNvSpPr/>
          <p:nvPr/>
        </p:nvSpPr>
        <p:spPr>
          <a:xfrm>
            <a:off x="4381500" y="5867400"/>
            <a:ext cx="3429000" cy="609600"/>
          </a:xfrm>
          <a:prstGeom prst="roundRect">
            <a:avLst/>
          </a:prstGeom>
          <a:solidFill>
            <a:srgbClr val="F4E6C7"/>
          </a:solidFill>
          <a:ln w="12700">
            <a:solidFill>
              <a:srgbClr val="4D4D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>
            <a:normAutofit/>
          </a:bodyPr>
          <a:lstStyle/>
          <a:p>
            <a:pPr algn="ctr"/>
            <a:r>
              <a:rPr lang="en-US" altLang="zh-CN" sz="950" b="1">
                <a:solidFill>
                  <a:srgbClr val="272727"/>
                </a:solidFill>
                <a:latin typeface="Arial" panose="020B0604020202020204" pitchFamily="34" charset="0"/>
              </a:rPr>
              <a:t>Pending
Field truth, future period, external plant</a:t>
            </a:r>
            <a:endParaRPr lang="zh-CN" altLang="en-US" sz="950" b="1">
              <a:solidFill>
                <a:srgbClr val="272727"/>
              </a:solidFill>
              <a:latin typeface="Arial" panose="020B0604020202020204" pitchFamily="34" charset="0"/>
            </a:endParaRPr>
          </a:p>
        </p:txBody>
      </p:sp>
      <p:sp>
        <p:nvSpPr>
          <p:cNvPr id="34" name="claim_prohibited">
            <a:extLst>
              <a:ext uri="{FF2B5EF4-FFF2-40B4-BE49-F238E27FC236}">
                <a16:creationId xmlns:a16="http://schemas.microsoft.com/office/drawing/2014/main" id="{A2365DE0-2394-841F-312E-7B9B2C2B76B5}"/>
              </a:ext>
            </a:extLst>
          </p:cNvPr>
          <p:cNvSpPr/>
          <p:nvPr/>
        </p:nvSpPr>
        <p:spPr>
          <a:xfrm>
            <a:off x="8102600" y="5867400"/>
            <a:ext cx="3429000" cy="609600"/>
          </a:xfrm>
          <a:prstGeom prst="roundRect">
            <a:avLst/>
          </a:prstGeom>
          <a:solidFill>
            <a:srgbClr val="EBD6D6"/>
          </a:solidFill>
          <a:ln w="12700">
            <a:solidFill>
              <a:srgbClr val="4D4D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>
            <a:normAutofit/>
          </a:bodyPr>
          <a:lstStyle/>
          <a:p>
            <a:pPr algn="ctr"/>
            <a:r>
              <a:rPr lang="en-US" altLang="zh-CN" sz="950" b="1">
                <a:solidFill>
                  <a:srgbClr val="272727"/>
                </a:solidFill>
                <a:latin typeface="Arial" panose="020B0604020202020204" pitchFamily="34" charset="0"/>
              </a:rPr>
              <a:t>Not supported
Deployment effectiveness or optimal weights</a:t>
            </a:r>
            <a:endParaRPr lang="zh-CN" altLang="en-US" sz="950" b="1">
              <a:solidFill>
                <a:srgbClr val="272727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511326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162"/>
  <p:tag name="SCIENTIFICILLUSTRATORBEGINY" val="119"/>
  <p:tag name="SCIENTIFICILLUSTRATORENDX" val="198.5"/>
  <p:tag name="SCIENTIFICILLUSTRATORENDY" val="119"/>
  <p:tag name="SCIENTIFICILLUSTRATORSTARTCLEARANCE" val="0"/>
  <p:tag name="SCIENTIFICILLUSTRATORENDCLEARANCE" val="1.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342"/>
  <p:tag name="SCIENTIFICILLUSTRATORBEGINY" val="119"/>
  <p:tag name="SCIENTIFICILLUSTRATORENDX" val="358.5"/>
  <p:tag name="SCIENTIFICILLUSTRATORENDY" val="119"/>
  <p:tag name="SCIENTIFICILLUSTRATORSTARTCLEARANCE" val="0"/>
  <p:tag name="SCIENTIFICILLUSTRATORENDCLEARANCE" val="1.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360"/>
  <p:tag name="SCIENTIFICILLUSTRATORBEGINY" val="119"/>
  <p:tag name="SCIENTIFICILLUSTRATORENDX" val="360"/>
  <p:tag name="SCIENTIFICILLUSTRATORENDY" val="49.5"/>
  <p:tag name="SCIENTIFICILLUSTRATORSTARTCLEARANCE" val="0"/>
  <p:tag name="SCIENTIFICILLUSTRATORENDCLEARANCE" val="1.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360"/>
  <p:tag name="SCIENTIFICILLUSTRATORBEGINY" val="48"/>
  <p:tag name="SCIENTIFICILLUSTRATORENDX" val="863.5"/>
  <p:tag name="SCIENTIFICILLUSTRATORENDY" val="48"/>
  <p:tag name="SCIENTIFICILLUSTRATORSTARTCLEARANCE" val="0"/>
  <p:tag name="SCIENTIFICILLUSTRATORENDCLEARANCE" val="1.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425"/>
  <p:tag name="SCIENTIFICILLUSTRATORBEGINY" val="48"/>
  <p:tag name="SCIENTIFICILLUSTRATORENDX" val="425"/>
  <p:tag name="SCIENTIFICILLUSTRATORENDY" val="62.5"/>
  <p:tag name="SCIENTIFICILLUSTRATORSTARTCLEARANCE" val="0"/>
  <p:tag name="SCIENTIFICILLUSTRATORENDCLEARANCE" val="1.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535"/>
  <p:tag name="SCIENTIFICILLUSTRATORBEGINY" val="48"/>
  <p:tag name="SCIENTIFICILLUSTRATORENDX" val="535"/>
  <p:tag name="SCIENTIFICILLUSTRATORENDY" val="62.5"/>
  <p:tag name="SCIENTIFICILLUSTRATORSTARTCLEARANCE" val="0"/>
  <p:tag name="SCIENTIFICILLUSTRATORENDCLEARANCE" val="1.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645"/>
  <p:tag name="SCIENTIFICILLUSTRATORBEGINY" val="48"/>
  <p:tag name="SCIENTIFICILLUSTRATORENDX" val="645"/>
  <p:tag name="SCIENTIFICILLUSTRATORENDY" val="62.5"/>
  <p:tag name="SCIENTIFICILLUSTRATORSTARTCLEARANCE" val="0"/>
  <p:tag name="SCIENTIFICILLUSTRATORENDCLEARANCE" val="1.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755"/>
  <p:tag name="SCIENTIFICILLUSTRATORBEGINY" val="48"/>
  <p:tag name="SCIENTIFICILLUSTRATORENDX" val="755"/>
  <p:tag name="SCIENTIFICILLUSTRATORENDY" val="62.5"/>
  <p:tag name="SCIENTIFICILLUSTRATORSTARTCLEARANCE" val="0"/>
  <p:tag name="SCIENTIFICILLUSTRATORENDCLEARANCE" val="1.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865"/>
  <p:tag name="SCIENTIFICILLUSTRATORBEGINY" val="48"/>
  <p:tag name="SCIENTIFICILLUSTRATORENDX" val="865"/>
  <p:tag name="SCIENTIFICILLUSTRATORENDY" val="62.5"/>
  <p:tag name="SCIENTIFICILLUSTRATORSTARTCLEARANCE" val="0"/>
  <p:tag name="SCIENTIFICILLUSTRATORENDCLEARANCE" val="1.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425"/>
  <p:tag name="SCIENTIFICILLUSTRATORBEGINY" val="156"/>
  <p:tag name="SCIENTIFICILLUSTRATORENDX" val="425"/>
  <p:tag name="SCIENTIFICILLUSTRATORENDY" val="182.5"/>
  <p:tag name="SCIENTIFICILLUSTRATORSTARTCLEARANCE" val="0"/>
  <p:tag name="SCIENTIFICILLUSTRATORENDCLEARANCE" val="1.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535"/>
  <p:tag name="SCIENTIFICILLUSTRATORBEGINY" val="156"/>
  <p:tag name="SCIENTIFICILLUSTRATORENDX" val="535"/>
  <p:tag name="SCIENTIFICILLUSTRATORENDY" val="182.5"/>
  <p:tag name="SCIENTIFICILLUSTRATORSTARTCLEARANCE" val="0"/>
  <p:tag name="SCIENTIFICILLUSTRATORENDCLEARANCE" val="1.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645"/>
  <p:tag name="SCIENTIFICILLUSTRATORBEGINY" val="156"/>
  <p:tag name="SCIENTIFICILLUSTRATORENDX" val="645"/>
  <p:tag name="SCIENTIFICILLUSTRATORENDY" val="182.5"/>
  <p:tag name="SCIENTIFICILLUSTRATORSTARTCLEARANCE" val="0"/>
  <p:tag name="SCIENTIFICILLUSTRATORENDCLEARANCE" val="1.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425"/>
  <p:tag name="SCIENTIFICILLUSTRATORBEGINY" val="184"/>
  <p:tag name="SCIENTIFICILLUSTRATORENDX" val="643.5"/>
  <p:tag name="SCIENTIFICILLUSTRATORENDY" val="184"/>
  <p:tag name="SCIENTIFICILLUSTRATORSTARTCLEARANCE" val="0"/>
  <p:tag name="SCIENTIFICILLUSTRATORENDCLEARANCE" val="1.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513"/>
  <p:tag name="SCIENTIFICILLUSTRATORBEGINY" val="184"/>
  <p:tag name="SCIENTIFICILLUSTRATORENDX" val="513"/>
  <p:tag name="SCIENTIFICILLUSTRATORENDY" val="232.5"/>
  <p:tag name="SCIENTIFICILLUSTRATORSTARTCLEARANCE" val="0"/>
  <p:tag name="SCIENTIFICILLUSTRATORENDCLEARANCE" val="1.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755"/>
  <p:tag name="SCIENTIFICILLUSTRATORBEGINY" val="156"/>
  <p:tag name="SCIENTIFICILLUSTRATORENDX" val="774.627436974598"/>
  <p:tag name="SCIENTIFICILLUSTRATORENDY" val="232.547004200934"/>
  <p:tag name="SCIENTIFICILLUSTRATORSTARTCLEARANCE" val="0"/>
  <p:tag name="SCIENTIFICILLUSTRATORENDCLEARANCE" val="1.5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610"/>
  <p:tag name="SCIENTIFICILLUSTRATORBEGINY" val="280"/>
  <p:tag name="SCIENTIFICILLUSTRATORENDX" val="676.5"/>
  <p:tag name="SCIENTIFICILLUSTRATORENDY" val="280"/>
  <p:tag name="SCIENTIFICILLUSTRATORSTARTCLEARANCE" val="0"/>
  <p:tag name="SCIENTIFICILLUSTRATORENDCLEARANCE" val="1.5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513"/>
  <p:tag name="SCIENTIFICILLUSTRATORBEGINY" val="326"/>
  <p:tag name="SCIENTIFICILLUSTRATORENDX" val="598.631236013228"/>
  <p:tag name="SCIENTIFICILLUSTRATORENDY" val="364.386416143861"/>
  <p:tag name="SCIENTIFICILLUSTRATORSTARTCLEARANCE" val="0"/>
  <p:tag name="SCIENTIFICILLUSTRATORENDCLEARANCE" val="1.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775"/>
  <p:tag name="SCIENTIFICILLUSTRATORBEGINY" val="326"/>
  <p:tag name="SCIENTIFICILLUSTRATORENDX" val="717.251328761969"/>
  <p:tag name="SCIENTIFICILLUSTRATORENDY" val="364.172850479376"/>
  <p:tag name="SCIENTIFICILLUSTRATORSTARTCLEARANCE" val="0"/>
  <p:tag name="SCIENTIFICILLUSTRATORENDCLEARANCE" val="1.5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</Words>
  <Application>Microsoft Office PowerPoint</Application>
  <PresentationFormat>宽屏</PresentationFormat>
  <Paragraphs>15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1998 muzi</dc:creator>
  <cp:lastModifiedBy>1998 muzi</cp:lastModifiedBy>
  <cp:revision>1</cp:revision>
  <dcterms:created xsi:type="dcterms:W3CDTF">2026-07-29T05:03:57Z</dcterms:created>
  <dcterms:modified xsi:type="dcterms:W3CDTF">2026-07-29T05:03:57Z</dcterms:modified>
</cp:coreProperties>
</file>